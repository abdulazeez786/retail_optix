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67"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12811CB-8EAA-4662-B023-A8F0B171D24B}" styleName="Table_0">
    <a:wholeTbl>
      <a:tcTxStyle>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F6FC"/>
          </a:solidFill>
        </a:fill>
      </a:tcStyle>
    </a:wholeTbl>
    <a:band1H>
      <a:tcStyle>
        <a:tcBdr/>
        <a:fill>
          <a:solidFill>
            <a:srgbClr val="D1ECF9"/>
          </a:solidFill>
        </a:fill>
      </a:tcStyle>
    </a:band1H>
    <a:band2H>
      <a:tcStyle>
        <a:tcBdr/>
      </a:tcStyle>
    </a:band2H>
    <a:band1V>
      <a:tcStyle>
        <a:tcBdr/>
        <a:fill>
          <a:solidFill>
            <a:srgbClr val="D1ECF9"/>
          </a:solidFill>
        </a:fill>
      </a:tcStyle>
    </a:band1V>
    <a:band2V>
      <a:tcStyle>
        <a:tcBdr/>
      </a:tcStyle>
    </a:band2V>
    <a:lastCol>
      <a:tcTxStyle b="on">
        <a:font>
          <a:latin typeface="Trebuchet MS"/>
          <a:ea typeface="Trebuchet MS"/>
          <a:cs typeface="Trebuchet MS"/>
        </a:font>
        <a:schemeClr val="lt1"/>
      </a:tcTxStyle>
      <a:tcStyle>
        <a:tcBdr/>
        <a:fill>
          <a:solidFill>
            <a:schemeClr val="accent1"/>
          </a:solidFill>
        </a:fill>
      </a:tcStyle>
    </a:lastCol>
    <a:firstCol>
      <a:tcTxStyle b="on">
        <a:font>
          <a:latin typeface="Trebuchet MS"/>
          <a:ea typeface="Trebuchet MS"/>
          <a:cs typeface="Trebuchet MS"/>
        </a:font>
        <a:schemeClr val="lt1"/>
      </a:tcTxStyle>
      <a:tcStyle>
        <a:tcBdr/>
        <a:fill>
          <a:solidFill>
            <a:schemeClr val="accent1"/>
          </a:solidFill>
        </a:fill>
      </a:tcStyle>
    </a:firstCol>
    <a:lastRow>
      <a:tcTxStyle b="on">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39"/>
        <p:cNvGrpSpPr/>
        <p:nvPr/>
      </p:nvGrpSpPr>
      <p:grpSpPr>
        <a:xfrm>
          <a:off x="0" y="0"/>
          <a:ext cx="0" cy="0"/>
          <a:chOff x="0" y="0"/>
          <a:chExt cx="0" cy="0"/>
        </a:xfrm>
      </p:grpSpPr>
      <p:sp>
        <p:nvSpPr>
          <p:cNvPr id="140" name="Google Shape;140;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1" name="Google Shape;141;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8" name="Google Shape;148;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5" name="Google Shape;155;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1" name="Google Shape;161;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7" name="Google Shape;167;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73" name="Google Shape;173;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1" name="Google Shape;181;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7" name="Google Shape;187;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3" name="Google Shape;193;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p1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9" name="Google Shape;199;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p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5" name="Google Shape;205;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22" name="Shape 22"/>
        <p:cNvGrpSpPr/>
        <p:nvPr/>
      </p:nvGrpSpPr>
      <p:grpSpPr>
        <a:xfrm>
          <a:off x="0" y="0"/>
          <a:ext cx="0" cy="0"/>
          <a:chOff x="0" y="0"/>
          <a:chExt cx="0" cy="0"/>
        </a:xfrm>
      </p:grpSpPr>
      <p:grpSp>
        <p:nvGrpSpPr>
          <p:cNvPr id="23" name="Google Shape;23;p14"/>
          <p:cNvGrpSpPr/>
          <p:nvPr/>
        </p:nvGrpSpPr>
        <p:grpSpPr>
          <a:xfrm>
            <a:off x="0" y="-8467"/>
            <a:ext cx="12192000" cy="6866467"/>
            <a:chOff x="0" y="-8467"/>
            <a:chExt cx="12192000" cy="6866467"/>
          </a:xfrm>
        </p:grpSpPr>
        <p:sp>
          <p:nvSpPr>
            <p:cNvPr id="24" name="Google Shape;24;p14"/>
            <p:cNvSpPr/>
            <p:nvPr/>
          </p:nvSpPr>
          <p:spPr>
            <a:xfrm>
              <a:off x="0" y="-7862"/>
              <a:ext cx="863600" cy="5698067"/>
            </a:xfrm>
            <a:custGeom>
              <a:avLst/>
              <a:gdLst/>
              <a:ahLst/>
              <a:cxnLst/>
              <a:rect l="l" t="t" r="r" b="b"/>
              <a:pathLst>
                <a:path w="863600" h="5698067" extrusionOk="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25" name="Google Shape;25;p14"/>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26" name="Google Shape;26;p14"/>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27" name="Google Shape;27;p14"/>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28" name="Google Shape;28;p14"/>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9" name="Google Shape;29;p14"/>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14"/>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31" name="Google Shape;31;p14"/>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32" name="Google Shape;32;p14"/>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3" name="Google Shape;33;p14"/>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4" name="Google Shape;34;p14"/>
          <p:cNvSpPr txBox="1"/>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panose="020B0703020202090204"/>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
          <p:cNvSpPr txBox="1"/>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14"/>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4"/>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9" name="Shape 39"/>
        <p:cNvGrpSpPr/>
        <p:nvPr/>
      </p:nvGrpSpPr>
      <p:grpSpPr>
        <a:xfrm>
          <a:off x="0" y="0"/>
          <a:ext cx="0" cy="0"/>
          <a:chOff x="0" y="0"/>
          <a:chExt cx="0" cy="0"/>
        </a:xfrm>
      </p:grpSpPr>
      <p:sp>
        <p:nvSpPr>
          <p:cNvPr id="40" name="Google Shape;40;p15"/>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5"/>
          <p:cNvSpPr txBox="1"/>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42" name="Google Shape;42;p15"/>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5" name="Shape 45"/>
        <p:cNvGrpSpPr/>
        <p:nvPr/>
      </p:nvGrpSpPr>
      <p:grpSpPr>
        <a:xfrm>
          <a:off x="0" y="0"/>
          <a:ext cx="0" cy="0"/>
          <a:chOff x="0" y="0"/>
          <a:chExt cx="0" cy="0"/>
        </a:xfrm>
      </p:grpSpPr>
      <p:sp>
        <p:nvSpPr>
          <p:cNvPr id="46" name="Google Shape;46;p16"/>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6"/>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0" name="Shape 50"/>
        <p:cNvGrpSpPr/>
        <p:nvPr/>
      </p:nvGrpSpPr>
      <p:grpSpPr>
        <a:xfrm>
          <a:off x="0" y="0"/>
          <a:ext cx="0" cy="0"/>
          <a:chOff x="0" y="0"/>
          <a:chExt cx="0" cy="0"/>
        </a:xfrm>
      </p:grpSpPr>
      <p:sp>
        <p:nvSpPr>
          <p:cNvPr id="51" name="Google Shape;51;p17"/>
          <p:cNvSpPr txBox="1"/>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panose="020B0703020202090204"/>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53" name="Google Shape;53;p17"/>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7"/>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7"/>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56" name="Shape 56"/>
        <p:cNvGrpSpPr/>
        <p:nvPr/>
      </p:nvGrpSpPr>
      <p:grpSpPr>
        <a:xfrm>
          <a:off x="0" y="0"/>
          <a:ext cx="0" cy="0"/>
          <a:chOff x="0" y="0"/>
          <a:chExt cx="0" cy="0"/>
        </a:xfrm>
      </p:grpSpPr>
      <p:sp>
        <p:nvSpPr>
          <p:cNvPr id="57" name="Google Shape;57;p18"/>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8"/>
          <p:cNvSpPr txBox="1"/>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59" name="Google Shape;59;p18"/>
          <p:cNvSpPr txBox="1"/>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0" name="Google Shape;60;p18"/>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8"/>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8"/>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63" name="Shape 63"/>
        <p:cNvGrpSpPr/>
        <p:nvPr/>
      </p:nvGrpSpPr>
      <p:grpSpPr>
        <a:xfrm>
          <a:off x="0" y="0"/>
          <a:ext cx="0" cy="0"/>
          <a:chOff x="0" y="0"/>
          <a:chExt cx="0" cy="0"/>
        </a:xfrm>
      </p:grpSpPr>
      <p:sp>
        <p:nvSpPr>
          <p:cNvPr id="64" name="Google Shape;64;p19"/>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panose="020B0703020202090204"/>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9"/>
          <p:cNvSpPr txBox="1"/>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66" name="Google Shape;66;p19"/>
          <p:cNvSpPr txBox="1"/>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7" name="Google Shape;67;p19"/>
          <p:cNvSpPr txBox="1"/>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p:txBody>
      </p:sp>
      <p:sp>
        <p:nvSpPr>
          <p:cNvPr id="68" name="Google Shape;68;p19"/>
          <p:cNvSpPr txBox="1"/>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69" name="Google Shape;69;p19"/>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9"/>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9"/>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72" name="Shape 72"/>
        <p:cNvGrpSpPr/>
        <p:nvPr/>
      </p:nvGrpSpPr>
      <p:grpSpPr>
        <a:xfrm>
          <a:off x="0" y="0"/>
          <a:ext cx="0" cy="0"/>
          <a:chOff x="0" y="0"/>
          <a:chExt cx="0" cy="0"/>
        </a:xfrm>
      </p:grpSpPr>
      <p:sp>
        <p:nvSpPr>
          <p:cNvPr id="73" name="Google Shape;73;p20"/>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0"/>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0"/>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76" name="Shape 76"/>
        <p:cNvGrpSpPr/>
        <p:nvPr/>
      </p:nvGrpSpPr>
      <p:grpSpPr>
        <a:xfrm>
          <a:off x="0" y="0"/>
          <a:ext cx="0" cy="0"/>
          <a:chOff x="0" y="0"/>
          <a:chExt cx="0" cy="0"/>
        </a:xfrm>
      </p:grpSpPr>
      <p:sp>
        <p:nvSpPr>
          <p:cNvPr id="77" name="Google Shape;77;p21"/>
          <p:cNvSpPr txBox="1"/>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panose="020B0703020202090204"/>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79" name="Google Shape;79;p21"/>
          <p:cNvSpPr txBox="1"/>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p:txBody>
      </p:sp>
      <p:sp>
        <p:nvSpPr>
          <p:cNvPr id="80" name="Google Shape;80;p21"/>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1"/>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1"/>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83" name="Shape 83"/>
        <p:cNvGrpSpPr/>
        <p:nvPr/>
      </p:nvGrpSpPr>
      <p:grpSpPr>
        <a:xfrm>
          <a:off x="0" y="0"/>
          <a:ext cx="0" cy="0"/>
          <a:chOff x="0" y="0"/>
          <a:chExt cx="0" cy="0"/>
        </a:xfrm>
      </p:grpSpPr>
      <p:sp>
        <p:nvSpPr>
          <p:cNvPr id="84" name="Google Shape;84;p22"/>
          <p:cNvSpPr txBox="1"/>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panose="020B0703020202090204"/>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2"/>
          <p:cNvSpPr/>
          <p:nvPr>
            <p:ph type="pic" idx="2"/>
          </p:nvPr>
        </p:nvSpPr>
        <p:spPr>
          <a:xfrm>
            <a:off x="677334" y="609600"/>
            <a:ext cx="8596668" cy="3845718"/>
          </a:xfrm>
          <a:prstGeom prst="rect">
            <a:avLst/>
          </a:prstGeom>
          <a:noFill/>
          <a:ln>
            <a:noFill/>
          </a:ln>
        </p:spPr>
      </p:sp>
      <p:sp>
        <p:nvSpPr>
          <p:cNvPr id="86" name="Google Shape;86;p22"/>
          <p:cNvSpPr txBox="1"/>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p:txBody>
      </p:sp>
      <p:sp>
        <p:nvSpPr>
          <p:cNvPr id="87" name="Google Shape;87;p22"/>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2"/>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89" name="Google Shape;89;p22"/>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90" name="Shape 90"/>
        <p:cNvGrpSpPr/>
        <p:nvPr/>
      </p:nvGrpSpPr>
      <p:grpSpPr>
        <a:xfrm>
          <a:off x="0" y="0"/>
          <a:ext cx="0" cy="0"/>
          <a:chOff x="0" y="0"/>
          <a:chExt cx="0" cy="0"/>
        </a:xfrm>
      </p:grpSpPr>
      <p:sp>
        <p:nvSpPr>
          <p:cNvPr id="91" name="Google Shape;91;p23"/>
          <p:cNvSpPr txBox="1"/>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70302020209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3"/>
          <p:cNvSpPr txBox="1"/>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93" name="Google Shape;93;p23"/>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3"/>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3"/>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96" name="Shape 96"/>
        <p:cNvGrpSpPr/>
        <p:nvPr/>
      </p:nvGrpSpPr>
      <p:grpSpPr>
        <a:xfrm>
          <a:off x="0" y="0"/>
          <a:ext cx="0" cy="0"/>
          <a:chOff x="0" y="0"/>
          <a:chExt cx="0" cy="0"/>
        </a:xfrm>
      </p:grpSpPr>
      <p:sp>
        <p:nvSpPr>
          <p:cNvPr id="97" name="Google Shape;97;p24"/>
          <p:cNvSpPr txBox="1"/>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70302020209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4"/>
          <p:cNvSpPr txBox="1"/>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panose="020B0703020202090204"/>
              <a:buNone/>
              <a:defRPr sz="1600">
                <a:solidFill>
                  <a:srgbClr val="7F7F7F"/>
                </a:solidFill>
              </a:defRPr>
            </a:lvl1pPr>
            <a:lvl2pPr marL="914400" lvl="1" indent="-228600" algn="l">
              <a:spcBef>
                <a:spcPts val="1000"/>
              </a:spcBef>
              <a:spcAft>
                <a:spcPts val="0"/>
              </a:spcAft>
              <a:buSzPts val="1280"/>
              <a:buFont typeface="Trebuchet MS" panose="020B0703020202090204"/>
              <a:buNone/>
              <a:defRPr/>
            </a:lvl2pPr>
            <a:lvl3pPr marL="1371600" lvl="2" indent="-228600" algn="l">
              <a:spcBef>
                <a:spcPts val="1000"/>
              </a:spcBef>
              <a:spcAft>
                <a:spcPts val="0"/>
              </a:spcAft>
              <a:buSzPts val="1120"/>
              <a:buFont typeface="Trebuchet MS" panose="020B0703020202090204"/>
              <a:buNone/>
              <a:defRPr/>
            </a:lvl3pPr>
            <a:lvl4pPr marL="1828800" lvl="3" indent="-228600" algn="l">
              <a:spcBef>
                <a:spcPts val="1000"/>
              </a:spcBef>
              <a:spcAft>
                <a:spcPts val="0"/>
              </a:spcAft>
              <a:buSzPts val="960"/>
              <a:buFont typeface="Trebuchet MS" panose="020B0703020202090204"/>
              <a:buNone/>
              <a:defRPr/>
            </a:lvl4pPr>
            <a:lvl5pPr marL="2286000" lvl="4" indent="-228600" algn="l">
              <a:spcBef>
                <a:spcPts val="1000"/>
              </a:spcBef>
              <a:spcAft>
                <a:spcPts val="0"/>
              </a:spcAft>
              <a:buSzPts val="960"/>
              <a:buFont typeface="Trebuchet MS" panose="020B0703020202090204"/>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99" name="Google Shape;99;p24"/>
          <p:cNvSpPr txBox="1"/>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00" name="Google Shape;100;p24"/>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4"/>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03" name="Google Shape;103;p24"/>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90204"/>
                <a:ea typeface="Arial" panose="020B0604020202090204"/>
                <a:cs typeface="Arial" panose="020B0604020202090204"/>
                <a:sym typeface="Arial" panose="020B0604020202090204"/>
              </a:rPr>
              <a:t>“</a:t>
            </a:r>
            <a:endParaRPr sz="8000">
              <a:solidFill>
                <a:srgbClr val="9EDFF5"/>
              </a:solidFill>
              <a:latin typeface="Arial" panose="020B0604020202090204"/>
              <a:ea typeface="Arial" panose="020B0604020202090204"/>
              <a:cs typeface="Arial" panose="020B0604020202090204"/>
              <a:sym typeface="Arial" panose="020B0604020202090204"/>
            </a:endParaRPr>
          </a:p>
        </p:txBody>
      </p:sp>
      <p:sp>
        <p:nvSpPr>
          <p:cNvPr id="104" name="Google Shape;104;p24"/>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90204"/>
                <a:ea typeface="Arial" panose="020B0604020202090204"/>
                <a:cs typeface="Arial" panose="020B0604020202090204"/>
                <a:sym typeface="Arial" panose="020B0604020202090204"/>
              </a:rPr>
              <a:t>”</a:t>
            </a:r>
            <a:endParaRPr sz="8000">
              <a:solidFill>
                <a:srgbClr val="9EDFF5"/>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05" name="Shape 105"/>
        <p:cNvGrpSpPr/>
        <p:nvPr/>
      </p:nvGrpSpPr>
      <p:grpSpPr>
        <a:xfrm>
          <a:off x="0" y="0"/>
          <a:ext cx="0" cy="0"/>
          <a:chOff x="0" y="0"/>
          <a:chExt cx="0" cy="0"/>
        </a:xfrm>
      </p:grpSpPr>
      <p:sp>
        <p:nvSpPr>
          <p:cNvPr id="106" name="Google Shape;106;p25"/>
          <p:cNvSpPr txBox="1"/>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panose="020B070302020209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5"/>
          <p:cNvSpPr txBox="1"/>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08" name="Google Shape;108;p25"/>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5"/>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5"/>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11" name="Shape 111"/>
        <p:cNvGrpSpPr/>
        <p:nvPr/>
      </p:nvGrpSpPr>
      <p:grpSpPr>
        <a:xfrm>
          <a:off x="0" y="0"/>
          <a:ext cx="0" cy="0"/>
          <a:chOff x="0" y="0"/>
          <a:chExt cx="0" cy="0"/>
        </a:xfrm>
      </p:grpSpPr>
      <p:sp>
        <p:nvSpPr>
          <p:cNvPr id="112" name="Google Shape;112;p26"/>
          <p:cNvSpPr txBox="1"/>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70302020209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6"/>
          <p:cNvSpPr txBox="1"/>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panose="020B0703020202090204"/>
              <a:buNone/>
              <a:defRPr sz="2400">
                <a:solidFill>
                  <a:srgbClr val="3F3F3F"/>
                </a:solidFill>
              </a:defRPr>
            </a:lvl1pPr>
            <a:lvl2pPr marL="914400" lvl="1" indent="-228600" algn="l">
              <a:spcBef>
                <a:spcPts val="1000"/>
              </a:spcBef>
              <a:spcAft>
                <a:spcPts val="0"/>
              </a:spcAft>
              <a:buSzPts val="1280"/>
              <a:buFont typeface="Trebuchet MS" panose="020B0703020202090204"/>
              <a:buNone/>
              <a:defRPr/>
            </a:lvl2pPr>
            <a:lvl3pPr marL="1371600" lvl="2" indent="-228600" algn="l">
              <a:spcBef>
                <a:spcPts val="1000"/>
              </a:spcBef>
              <a:spcAft>
                <a:spcPts val="0"/>
              </a:spcAft>
              <a:buSzPts val="1120"/>
              <a:buFont typeface="Trebuchet MS" panose="020B0703020202090204"/>
              <a:buNone/>
              <a:defRPr/>
            </a:lvl3pPr>
            <a:lvl4pPr marL="1828800" lvl="3" indent="-228600" algn="l">
              <a:spcBef>
                <a:spcPts val="1000"/>
              </a:spcBef>
              <a:spcAft>
                <a:spcPts val="0"/>
              </a:spcAft>
              <a:buSzPts val="960"/>
              <a:buFont typeface="Trebuchet MS" panose="020B0703020202090204"/>
              <a:buNone/>
              <a:defRPr/>
            </a:lvl4pPr>
            <a:lvl5pPr marL="2286000" lvl="4" indent="-228600" algn="l">
              <a:spcBef>
                <a:spcPts val="1000"/>
              </a:spcBef>
              <a:spcAft>
                <a:spcPts val="0"/>
              </a:spcAft>
              <a:buSzPts val="960"/>
              <a:buFont typeface="Trebuchet MS" panose="020B0703020202090204"/>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14" name="Google Shape;114;p26"/>
          <p:cNvSpPr txBox="1"/>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15" name="Google Shape;115;p26"/>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6"/>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6"/>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
        <p:nvSpPr>
          <p:cNvPr id="118" name="Google Shape;118;p26"/>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90204"/>
                <a:ea typeface="Arial" panose="020B0604020202090204"/>
                <a:cs typeface="Arial" panose="020B0604020202090204"/>
                <a:sym typeface="Arial" panose="020B0604020202090204"/>
              </a:rPr>
              <a:t>“</a:t>
            </a:r>
            <a:endParaRPr sz="8000">
              <a:solidFill>
                <a:srgbClr val="9EDFF5"/>
              </a:solidFill>
              <a:latin typeface="Arial" panose="020B0604020202090204"/>
              <a:ea typeface="Arial" panose="020B0604020202090204"/>
              <a:cs typeface="Arial" panose="020B0604020202090204"/>
              <a:sym typeface="Arial" panose="020B0604020202090204"/>
            </a:endParaRPr>
          </a:p>
        </p:txBody>
      </p:sp>
      <p:sp>
        <p:nvSpPr>
          <p:cNvPr id="119" name="Google Shape;119;p26"/>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a:solidFill>
                  <a:srgbClr val="9EDFF5"/>
                </a:solidFill>
                <a:latin typeface="Arial" panose="020B0604020202090204"/>
                <a:ea typeface="Arial" panose="020B0604020202090204"/>
                <a:cs typeface="Arial" panose="020B0604020202090204"/>
                <a:sym typeface="Arial" panose="020B0604020202090204"/>
              </a:rPr>
              <a:t>”</a:t>
            </a:r>
            <a:endParaRPr sz="8000">
              <a:solidFill>
                <a:srgbClr val="9EDFF5"/>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20" name="Shape 120"/>
        <p:cNvGrpSpPr/>
        <p:nvPr/>
      </p:nvGrpSpPr>
      <p:grpSpPr>
        <a:xfrm>
          <a:off x="0" y="0"/>
          <a:ext cx="0" cy="0"/>
          <a:chOff x="0" y="0"/>
          <a:chExt cx="0" cy="0"/>
        </a:xfrm>
      </p:grpSpPr>
      <p:sp>
        <p:nvSpPr>
          <p:cNvPr id="121" name="Google Shape;121;p27"/>
          <p:cNvSpPr txBox="1"/>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panose="020B0703020202090204"/>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7"/>
          <p:cNvSpPr txBox="1"/>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panose="020B0703020202090204"/>
              <a:buNone/>
              <a:defRPr sz="2400">
                <a:solidFill>
                  <a:schemeClr val="accent1"/>
                </a:solidFill>
              </a:defRPr>
            </a:lvl1pPr>
            <a:lvl2pPr marL="914400" lvl="1" indent="-228600" algn="l">
              <a:spcBef>
                <a:spcPts val="1000"/>
              </a:spcBef>
              <a:spcAft>
                <a:spcPts val="0"/>
              </a:spcAft>
              <a:buSzPts val="1280"/>
              <a:buFont typeface="Trebuchet MS" panose="020B0703020202090204"/>
              <a:buNone/>
              <a:defRPr/>
            </a:lvl2pPr>
            <a:lvl3pPr marL="1371600" lvl="2" indent="-228600" algn="l">
              <a:spcBef>
                <a:spcPts val="1000"/>
              </a:spcBef>
              <a:spcAft>
                <a:spcPts val="0"/>
              </a:spcAft>
              <a:buSzPts val="1120"/>
              <a:buFont typeface="Trebuchet MS" panose="020B0703020202090204"/>
              <a:buNone/>
              <a:defRPr/>
            </a:lvl3pPr>
            <a:lvl4pPr marL="1828800" lvl="3" indent="-228600" algn="l">
              <a:spcBef>
                <a:spcPts val="1000"/>
              </a:spcBef>
              <a:spcAft>
                <a:spcPts val="0"/>
              </a:spcAft>
              <a:buSzPts val="960"/>
              <a:buFont typeface="Trebuchet MS" panose="020B0703020202090204"/>
              <a:buNone/>
              <a:defRPr/>
            </a:lvl4pPr>
            <a:lvl5pPr marL="2286000" lvl="4" indent="-228600" algn="l">
              <a:spcBef>
                <a:spcPts val="1000"/>
              </a:spcBef>
              <a:spcAft>
                <a:spcPts val="0"/>
              </a:spcAft>
              <a:buSzPts val="960"/>
              <a:buFont typeface="Trebuchet MS" panose="020B0703020202090204"/>
              <a:buNone/>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23" name="Google Shape;123;p27"/>
          <p:cNvSpPr txBox="1"/>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p:txBody>
      </p:sp>
      <p:sp>
        <p:nvSpPr>
          <p:cNvPr id="124" name="Google Shape;124;p27"/>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7"/>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7"/>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27" name="Shape 127"/>
        <p:cNvGrpSpPr/>
        <p:nvPr/>
      </p:nvGrpSpPr>
      <p:grpSpPr>
        <a:xfrm>
          <a:off x="0" y="0"/>
          <a:ext cx="0" cy="0"/>
          <a:chOff x="0" y="0"/>
          <a:chExt cx="0" cy="0"/>
        </a:xfrm>
      </p:grpSpPr>
      <p:sp>
        <p:nvSpPr>
          <p:cNvPr id="128" name="Google Shape;128;p28"/>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8"/>
          <p:cNvSpPr txBox="1"/>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30" name="Google Shape;130;p28"/>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8"/>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8"/>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33" name="Shape 133"/>
        <p:cNvGrpSpPr/>
        <p:nvPr/>
      </p:nvGrpSpPr>
      <p:grpSpPr>
        <a:xfrm>
          <a:off x="0" y="0"/>
          <a:ext cx="0" cy="0"/>
          <a:chOff x="0" y="0"/>
          <a:chExt cx="0" cy="0"/>
        </a:xfrm>
      </p:grpSpPr>
      <p:sp>
        <p:nvSpPr>
          <p:cNvPr id="134" name="Google Shape;134;p29"/>
          <p:cNvSpPr txBox="1"/>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9"/>
          <p:cNvSpPr txBox="1"/>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40" algn="l">
              <a:spcBef>
                <a:spcPts val="1000"/>
              </a:spcBef>
              <a:spcAft>
                <a:spcPts val="0"/>
              </a:spcAft>
              <a:buSzPts val="1440"/>
              <a:buChar char="►"/>
              <a:defRPr/>
            </a:lvl3pPr>
            <a:lvl4pPr marL="1828800" lvl="3" indent="-320040" algn="l">
              <a:spcBef>
                <a:spcPts val="1000"/>
              </a:spcBef>
              <a:spcAft>
                <a:spcPts val="0"/>
              </a:spcAft>
              <a:buSzPts val="1440"/>
              <a:buChar char="►"/>
              <a:defRPr/>
            </a:lvl4pPr>
            <a:lvl5pPr marL="2286000" lvl="4" indent="-320040" algn="l">
              <a:spcBef>
                <a:spcPts val="1000"/>
              </a:spcBef>
              <a:spcAft>
                <a:spcPts val="0"/>
              </a:spcAft>
              <a:buSzPts val="1440"/>
              <a:buChar char="►"/>
              <a:defRPr/>
            </a:lvl5pPr>
            <a:lvl6pPr marL="2743200" lvl="5" indent="-320040" algn="l">
              <a:spcBef>
                <a:spcPts val="1000"/>
              </a:spcBef>
              <a:spcAft>
                <a:spcPts val="0"/>
              </a:spcAft>
              <a:buSzPts val="1440"/>
              <a:buChar char="►"/>
              <a:defRPr/>
            </a:lvl6pPr>
            <a:lvl7pPr marL="3200400" lvl="6" indent="-320040"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p:txBody>
      </p:sp>
      <p:sp>
        <p:nvSpPr>
          <p:cNvPr id="136" name="Google Shape;136;p29"/>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9"/>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9"/>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grpSp>
        <p:nvGrpSpPr>
          <p:cNvPr id="6" name="Google Shape;6;p13"/>
          <p:cNvGrpSpPr/>
          <p:nvPr/>
        </p:nvGrpSpPr>
        <p:grpSpPr>
          <a:xfrm>
            <a:off x="0" y="-8467"/>
            <a:ext cx="12192000" cy="6866467"/>
            <a:chOff x="0" y="-8467"/>
            <a:chExt cx="12192000" cy="6866467"/>
          </a:xfrm>
        </p:grpSpPr>
        <p:cxnSp>
          <p:nvCxnSpPr>
            <p:cNvPr id="7" name="Google Shape;7;p13"/>
            <p:cNvCxnSpPr/>
            <p:nvPr/>
          </p:nvCxnSpPr>
          <p:spPr>
            <a:xfrm>
              <a:off x="9371012" y="0"/>
              <a:ext cx="1219200" cy="6858000"/>
            </a:xfrm>
            <a:prstGeom prst="straightConnector1">
              <a:avLst/>
            </a:prstGeom>
            <a:noFill/>
            <a:ln w="9525" cap="flat" cmpd="sng">
              <a:solidFill>
                <a:schemeClr val="accent1">
                  <a:alpha val="70196"/>
                </a:schemeClr>
              </a:solidFill>
              <a:prstDash val="solid"/>
              <a:round/>
              <a:headEnd type="none" w="sm" len="sm"/>
              <a:tailEnd type="none" w="sm" len="sm"/>
            </a:ln>
          </p:spPr>
        </p:cxnSp>
        <p:cxnSp>
          <p:nvCxnSpPr>
            <p:cNvPr id="8" name="Google Shape;8;p13"/>
            <p:cNvCxnSpPr/>
            <p:nvPr/>
          </p:nvCxnSpPr>
          <p:spPr>
            <a:xfrm flipH="1">
              <a:off x="7425267" y="3681413"/>
              <a:ext cx="4763558" cy="3176587"/>
            </a:xfrm>
            <a:prstGeom prst="straightConnector1">
              <a:avLst/>
            </a:prstGeom>
            <a:noFill/>
            <a:ln w="9525" cap="flat" cmpd="sng">
              <a:solidFill>
                <a:schemeClr val="accent1">
                  <a:alpha val="70196"/>
                </a:schemeClr>
              </a:solidFill>
              <a:prstDash val="solid"/>
              <a:round/>
              <a:headEnd type="none" w="sm" len="sm"/>
              <a:tailEnd type="none" w="sm" len="sm"/>
            </a:ln>
          </p:spPr>
        </p:cxnSp>
        <p:sp>
          <p:nvSpPr>
            <p:cNvPr id="9" name="Google Shape;9;p13"/>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0" name="Google Shape;10;p13"/>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3"/>
            <p:cNvSpPr/>
            <p:nvPr/>
          </p:nvSpPr>
          <p:spPr>
            <a:xfrm>
              <a:off x="8932333" y="3048000"/>
              <a:ext cx="3259667" cy="3810000"/>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13"/>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3" name="Google Shape;13;p13"/>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4" name="Google Shape;14;p13"/>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5" name="Google Shape;15;p13"/>
            <p:cNvSpPr/>
            <p:nvPr/>
          </p:nvSpPr>
          <p:spPr>
            <a:xfrm>
              <a:off x="10371666" y="3589867"/>
              <a:ext cx="1817159" cy="3268133"/>
            </a:xfrm>
            <a:prstGeom prst="triangle">
              <a:avLst>
                <a:gd name="adj" fmla="val 100000"/>
              </a:avLst>
            </a:prstGeom>
            <a:solidFill>
              <a:srgbClr val="16B0E3">
                <a:alpha val="6588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13"/>
            <p:cNvSpPr/>
            <p:nvPr/>
          </p:nvSpPr>
          <p:spPr>
            <a:xfrm>
              <a:off x="0" y="4013200"/>
              <a:ext cx="448733" cy="2844800"/>
            </a:xfrm>
            <a:prstGeom prst="triangle">
              <a:avLst>
                <a:gd name="adj" fmla="val 0"/>
              </a:avLst>
            </a:prstGeom>
            <a:solidFill>
              <a:schemeClr val="accent1">
                <a:alpha val="70196"/>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7" name="Google Shape;17;p13"/>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panose="020B0703020202090204"/>
              <a:buNone/>
              <a:defRPr sz="36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p:txBody>
      </p:sp>
      <p:sp>
        <p:nvSpPr>
          <p:cNvPr id="18" name="Google Shape;18;p13"/>
          <p:cNvSpPr txBox="1"/>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2pPr>
            <a:lvl3pPr marL="1371600" marR="0" lvl="2" indent="-299720"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7pPr>
            <a:lvl8pPr marL="3657600" marR="0" lvl="7"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8pPr>
            <a:lvl9pPr marL="4114800" marR="0" lvl="8"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defRPr>
            </a:lvl9pPr>
          </a:lstStyle>
          <a:p/>
        </p:txBody>
      </p:sp>
      <p:sp>
        <p:nvSpPr>
          <p:cNvPr id="19" name="Google Shape;19;p13"/>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panose="020B0703020202090204"/>
                <a:ea typeface="Trebuchet MS" panose="020B0703020202090204"/>
                <a:cs typeface="Trebuchet MS" panose="020B0703020202090204"/>
                <a:sym typeface="Trebuchet MS" panose="020B0703020202090204"/>
              </a:defRPr>
            </a:lvl1pPr>
            <a:lvl2pPr marR="0" lvl="1"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2pPr>
            <a:lvl3pPr marR="0" lvl="2"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3pPr>
            <a:lvl4pPr marR="0" lvl="3"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4pPr>
            <a:lvl5pPr marR="0" lvl="4"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5pPr>
            <a:lvl6pPr marR="0" lvl="5"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6pPr>
            <a:lvl7pPr marR="0" lvl="6"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7pPr>
            <a:lvl8pPr marR="0" lvl="7"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8pPr>
            <a:lvl9pPr marR="0" lvl="8"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9pPr>
          </a:lstStyle>
          <a:p/>
        </p:txBody>
      </p:sp>
      <p:sp>
        <p:nvSpPr>
          <p:cNvPr id="20" name="Google Shape;20;p13"/>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panose="020B0703020202090204"/>
                <a:ea typeface="Trebuchet MS" panose="020B0703020202090204"/>
                <a:cs typeface="Trebuchet MS" panose="020B0703020202090204"/>
                <a:sym typeface="Trebuchet MS" panose="020B0703020202090204"/>
              </a:defRPr>
            </a:lvl1pPr>
            <a:lvl2pPr marR="0" lvl="1"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2pPr>
            <a:lvl3pPr marR="0" lvl="2"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3pPr>
            <a:lvl4pPr marR="0" lvl="3"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4pPr>
            <a:lvl5pPr marR="0" lvl="4"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5pPr>
            <a:lvl6pPr marR="0" lvl="5"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6pPr>
            <a:lvl7pPr marR="0" lvl="6"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7pPr>
            <a:lvl8pPr marR="0" lvl="7"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8pPr>
            <a:lvl9pPr marR="0" lvl="8" algn="l" rtl="0">
              <a:spcBef>
                <a:spcPts val="0"/>
              </a:spcBef>
              <a:spcAft>
                <a:spcPts val="0"/>
              </a:spcAft>
              <a:buSzPts val="1400"/>
              <a:buNone/>
              <a:def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defRPr>
            </a:lvl9pPr>
          </a:lstStyle>
          <a:p/>
        </p:txBody>
      </p:sp>
      <p:sp>
        <p:nvSpPr>
          <p:cNvPr id="21" name="Google Shape;21;p13"/>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1pPr>
            <a:lvl2pPr marL="0" marR="0" lvl="1"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2pPr>
            <a:lvl3pPr marL="0" marR="0" lvl="2"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3pPr>
            <a:lvl4pPr marL="0" marR="0" lvl="3"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4pPr>
            <a:lvl5pPr marL="0" marR="0" lvl="4"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5pPr>
            <a:lvl6pPr marL="0" marR="0" lvl="5"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6pPr>
            <a:lvl7pPr marL="0" marR="0" lvl="6"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7pPr>
            <a:lvl8pPr marL="0" marR="0" lvl="7"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8pPr>
            <a:lvl9pPr marL="0" marR="0" lvl="8" indent="0" algn="r" rtl="0">
              <a:spcBef>
                <a:spcPts val="0"/>
              </a:spcBef>
              <a:buNone/>
              <a:defRPr sz="900" b="0" i="0" u="none" strike="noStrike" cap="none">
                <a:solidFill>
                  <a:schemeClr val="accent1"/>
                </a:solidFill>
                <a:latin typeface="Trebuchet MS" panose="020B0703020202090204"/>
                <a:ea typeface="Trebuchet MS" panose="020B0703020202090204"/>
                <a:cs typeface="Trebuchet MS" panose="020B0703020202090204"/>
                <a:sym typeface="Trebuchet MS" panose="020B070302020209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spc="0">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1258349" y="1040235"/>
            <a:ext cx="7701094" cy="1770077"/>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chemeClr val="dk1"/>
              </a:buClr>
              <a:buSzPts val="2400"/>
              <a:buFont typeface="Times New Roman" panose="02020503050405090304"/>
              <a:buNone/>
            </a:pPr>
            <a:r>
              <a:rPr lang="en-US" sz="2400">
                <a:solidFill>
                  <a:schemeClr val="dk1"/>
                </a:solidFill>
                <a:latin typeface="Times New Roman" panose="02020503050405090304"/>
                <a:ea typeface="Times New Roman" panose="02020503050405090304"/>
                <a:cs typeface="Times New Roman" panose="02020503050405090304"/>
                <a:sym typeface="Times New Roman" panose="02020503050405090304"/>
              </a:rPr>
              <a:t>TITLE</a:t>
            </a:r>
            <a:r>
              <a:rPr lang="en-US" sz="2400" b="1">
                <a:solidFill>
                  <a:schemeClr val="dk1"/>
                </a:solidFill>
                <a:latin typeface="Times New Roman" panose="02020503050405090304"/>
                <a:ea typeface="Times New Roman" panose="02020503050405090304"/>
                <a:cs typeface="Times New Roman" panose="02020503050405090304"/>
                <a:sym typeface="Times New Roman" panose="02020503050405090304"/>
              </a:rPr>
              <a:t>:</a:t>
            </a:r>
            <a:r>
              <a:rPr lang="en-US" sz="2400">
                <a:solidFill>
                  <a:schemeClr val="dk1"/>
                </a:solidFill>
                <a:latin typeface="Times New Roman" panose="02020503050405090304"/>
                <a:ea typeface="Times New Roman" panose="02020503050405090304"/>
                <a:cs typeface="Times New Roman" panose="02020503050405090304"/>
                <a:sym typeface="Times New Roman" panose="02020503050405090304"/>
              </a:rPr>
              <a:t> INTEGRATED MACHINE LEARNING AND REINFORCEMENT LEARNING FRAMEWORK FOR RETAIL DEMAND FORECASTING AND INVENTORY DECISION OPTIMIZATION</a:t>
            </a:r>
            <a:endParaRPr sz="24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44" name="Google Shape;144;p1"/>
          <p:cNvSpPr txBox="1"/>
          <p:nvPr>
            <p:ph type="subTitle" idx="1"/>
          </p:nvPr>
        </p:nvSpPr>
        <p:spPr>
          <a:xfrm>
            <a:off x="1403985" y="4684395"/>
            <a:ext cx="3664585" cy="184658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0"/>
              </a:spcBef>
              <a:spcAft>
                <a:spcPts val="0"/>
              </a:spcAft>
              <a:buSzPts val="1440"/>
              <a:buNone/>
            </a:pPr>
            <a:r>
              <a:rPr lang="en-US">
                <a:solidFill>
                  <a:schemeClr val="dk1"/>
                </a:solidFill>
                <a:latin typeface="Times New Roman" panose="02020503050405090304"/>
                <a:ea typeface="Times New Roman" panose="02020503050405090304"/>
                <a:cs typeface="Times New Roman" panose="02020503050405090304"/>
                <a:sym typeface="Times New Roman" panose="02020503050405090304"/>
              </a:rPr>
              <a:t>Under the guidance of,</a:t>
            </a:r>
            <a:endParaRPr>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70000"/>
              </a:lnSpc>
              <a:spcBef>
                <a:spcPts val="1000"/>
              </a:spcBef>
              <a:spcAft>
                <a:spcPts val="0"/>
              </a:spcAft>
              <a:buSzPts val="1440"/>
              <a:buNone/>
            </a:pPr>
            <a:r>
              <a:rPr lang="en-US">
                <a:solidFill>
                  <a:schemeClr val="dk1"/>
                </a:solidFill>
                <a:latin typeface="Times New Roman" panose="02020503050405090304"/>
                <a:ea typeface="Times New Roman" panose="02020503050405090304"/>
                <a:cs typeface="Times New Roman" panose="02020503050405090304"/>
                <a:sym typeface="Times New Roman" panose="02020503050405090304"/>
              </a:rPr>
              <a:t>Mr.Ch.Poorna Venkata Srinivasa rao</a:t>
            </a:r>
            <a:endParaRPr>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70000"/>
              </a:lnSpc>
              <a:spcBef>
                <a:spcPts val="1000"/>
              </a:spcBef>
              <a:spcAft>
                <a:spcPts val="0"/>
              </a:spcAft>
              <a:buSzPts val="1440"/>
              <a:buNone/>
            </a:pPr>
            <a:r>
              <a:rPr lang="en-US">
                <a:solidFill>
                  <a:schemeClr val="dk1"/>
                </a:solidFill>
                <a:latin typeface="Times New Roman" panose="02020503050405090304"/>
                <a:ea typeface="Times New Roman" panose="02020503050405090304"/>
                <a:cs typeface="Times New Roman" panose="02020503050405090304"/>
                <a:sym typeface="Times New Roman" panose="02020503050405090304"/>
              </a:rPr>
              <a:t>Sr.Assistant professor</a:t>
            </a:r>
            <a:endParaRPr>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lvl="0" indent="0" algn="ctr" rtl="0">
              <a:lnSpc>
                <a:spcPct val="150000"/>
              </a:lnSpc>
              <a:spcBef>
                <a:spcPts val="1000"/>
              </a:spcBef>
              <a:spcAft>
                <a:spcPts val="0"/>
              </a:spcAft>
              <a:buSzPts val="800"/>
              <a:buNone/>
            </a:pPr>
            <a:endParaRPr sz="10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45" name="Google Shape;145;p1"/>
          <p:cNvSpPr txBox="1"/>
          <p:nvPr/>
        </p:nvSpPr>
        <p:spPr>
          <a:xfrm>
            <a:off x="6112829" y="4581761"/>
            <a:ext cx="3145872" cy="1647825"/>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None/>
            </a:pPr>
            <a:r>
              <a:rPr lang="en-US"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Presented By : Batch 40</a:t>
            </a:r>
            <a:endParaRPr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30000"/>
              </a:lnSpc>
              <a:spcBef>
                <a:spcPts val="0"/>
              </a:spcBef>
              <a:spcAft>
                <a:spcPts val="0"/>
              </a:spcAft>
              <a:buNone/>
            </a:pPr>
            <a:r>
              <a:rPr lang="en-US"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23761A12A5 – Md Abdul azeez</a:t>
            </a:r>
            <a:endParaRPr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30000"/>
              </a:lnSpc>
              <a:spcBef>
                <a:spcPts val="0"/>
              </a:spcBef>
              <a:spcAft>
                <a:spcPts val="0"/>
              </a:spcAft>
              <a:buNone/>
            </a:pPr>
            <a:r>
              <a:rPr lang="en-US"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23761A12D0 – V Vyshnavi</a:t>
            </a:r>
            <a:endParaRPr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30000"/>
              </a:lnSpc>
              <a:spcBef>
                <a:spcPts val="0"/>
              </a:spcBef>
              <a:spcAft>
                <a:spcPts val="0"/>
              </a:spcAft>
              <a:buNone/>
            </a:pPr>
            <a:r>
              <a:rPr lang="en-US"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23761A12C5 – T Vardhan babu</a:t>
            </a:r>
            <a:endParaRPr sz="1600" b="0"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lnSpc>
                <a:spcPct val="130000"/>
              </a:lnSpc>
              <a:spcBef>
                <a:spcPts val="0"/>
              </a:spcBef>
              <a:spcAft>
                <a:spcPts val="0"/>
              </a:spcAft>
              <a:buNone/>
            </a:pPr>
            <a:endParaRPr sz="1800" b="0"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pPr algn="ctr"/>
            <a:br>
              <a:rPr lang="en-US"/>
            </a:br>
            <a:r>
              <a:rPr lang="en-US">
                <a:solidFill>
                  <a:schemeClr val="tx1"/>
                </a:solidFill>
                <a:latin typeface="Times New Roman" panose="02020503050405090304" charset="0"/>
                <a:cs typeface="Times New Roman" panose="02020503050405090304" charset="0"/>
              </a:rPr>
              <a:t>DOMAIN</a:t>
            </a:r>
            <a:endParaRPr lang="en-US">
              <a:solidFill>
                <a:schemeClr val="tx1"/>
              </a:solidFill>
              <a:latin typeface="Times New Roman" panose="02020503050405090304" charset="0"/>
              <a:cs typeface="Times New Roman" panose="02020503050405090304" charset="0"/>
            </a:endParaRPr>
          </a:p>
        </p:txBody>
      </p:sp>
      <p:sp>
        <p:nvSpPr>
          <p:cNvPr id="3" name="Text Placeholder 2"/>
          <p:cNvSpPr/>
          <p:nvPr>
            <p:ph type="body" idx="1"/>
          </p:nvPr>
        </p:nvSpPr>
        <p:spPr/>
        <p:txBody>
          <a:bodyPr/>
          <a:p>
            <a:endParaRPr lang="en-US" altLang="en-US">
              <a:latin typeface="Times New Roman" panose="02020503050405090304" charset="0"/>
              <a:cs typeface="Times New Roman" panose="02020503050405090304" charset="0"/>
            </a:endParaRPr>
          </a:p>
          <a:p>
            <a:endParaRPr lang="en-US" altLang="en-US">
              <a:latin typeface="Times New Roman" panose="02020503050405090304" charset="0"/>
              <a:cs typeface="Times New Roman" panose="02020503050405090304" charset="0"/>
            </a:endParaRPr>
          </a:p>
          <a:p>
            <a:r>
              <a:rPr lang="en-US" altLang="en-US" sz="4000">
                <a:latin typeface="Times New Roman" panose="02020503050405090304" charset="0"/>
                <a:cs typeface="Times New Roman" panose="02020503050405090304" charset="0"/>
              </a:rPr>
              <a:t>Artificial Intelligence</a:t>
            </a:r>
            <a:endParaRPr lang="en-US" altLang="en-US" sz="4000">
              <a:latin typeface="Times New Roman" panose="02020503050405090304" charset="0"/>
              <a:cs typeface="Times New Roman" panose="02020503050405090304" charset="0"/>
            </a:endParaRPr>
          </a:p>
          <a:p>
            <a:r>
              <a:rPr lang="en-US" altLang="en-US" sz="4000">
                <a:latin typeface="Times New Roman" panose="02020503050405090304" charset="0"/>
                <a:cs typeface="Times New Roman" panose="02020503050405090304" charset="0"/>
              </a:rPr>
              <a:t>Machine Learning</a:t>
            </a:r>
            <a:endParaRPr lang="en-US" altLang="en-US" sz="4000">
              <a:latin typeface="Times New Roman" panose="02020503050405090304" charset="0"/>
              <a:cs typeface="Times New Roman" panose="02020503050405090304" charset="0"/>
            </a:endParaRPr>
          </a:p>
          <a:p>
            <a:r>
              <a:rPr lang="en-US" altLang="en-US" sz="4000">
                <a:latin typeface="Times New Roman" panose="02020503050405090304" charset="0"/>
                <a:cs typeface="Times New Roman" panose="02020503050405090304" charset="0"/>
              </a:rPr>
              <a:t>Reinforcement Learning</a:t>
            </a:r>
            <a:endParaRPr lang="en-US" altLang="en-US" sz="4000">
              <a:latin typeface="Times New Roman" panose="02020503050405090304" charset="0"/>
              <a:cs typeface="Times New Roman" panose="02020503050405090304" charset="0"/>
            </a:endParaRPr>
          </a:p>
          <a:p>
            <a:pPr marL="137160" indent="0">
              <a:buNone/>
            </a:pPr>
            <a:endParaRPr lang="en-US" altLang="en-US" sz="4000">
              <a:latin typeface="Times New Roman" panose="02020503050405090304" charset="0"/>
              <a:cs typeface="Times New Roman" panose="0202050305040509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
          <p:cNvSpPr txBox="1"/>
          <p:nvPr>
            <p:ph type="title"/>
          </p:nvPr>
        </p:nvSpPr>
        <p:spPr>
          <a:xfrm>
            <a:off x="585433" y="712969"/>
            <a:ext cx="8596668" cy="99922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2800"/>
              <a:buFont typeface="Times New Roman" panose="02020503050405090304"/>
              <a:buNone/>
            </a:pP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OUTLINE</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1" name="Google Shape;151;p2"/>
          <p:cNvSpPr txBox="1"/>
          <p:nvPr>
            <p:ph type="body" idx="1"/>
          </p:nvPr>
        </p:nvSpPr>
        <p:spPr>
          <a:xfrm>
            <a:off x="1567517" y="1969655"/>
            <a:ext cx="3196492" cy="3504045"/>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SzPts val="1600"/>
              <a:buNone/>
            </a:pPr>
            <a:r>
              <a:rPr lang="en-US" sz="2000">
                <a:latin typeface="Times New Roman" panose="02020503050405090304"/>
                <a:ea typeface="Times New Roman" panose="02020503050405090304"/>
                <a:cs typeface="Times New Roman" panose="02020503050405090304"/>
                <a:sym typeface="Times New Roman" panose="02020503050405090304"/>
              </a:rPr>
              <a:t>• Abstract</a:t>
            </a:r>
            <a:endParaRPr sz="2000">
              <a:latin typeface="Times New Roman" panose="02020503050405090304"/>
              <a:ea typeface="Times New Roman" panose="02020503050405090304"/>
              <a:cs typeface="Times New Roman" panose="02020503050405090304"/>
              <a:sym typeface="Times New Roman" panose="02020503050405090304"/>
            </a:endParaRPr>
          </a:p>
          <a:p>
            <a:pPr marL="0" lvl="0" indent="0" algn="just" rtl="0">
              <a:lnSpc>
                <a:spcPct val="150000"/>
              </a:lnSpc>
              <a:spcBef>
                <a:spcPts val="1000"/>
              </a:spcBef>
              <a:spcAft>
                <a:spcPts val="0"/>
              </a:spcAft>
              <a:buSzPts val="1600"/>
              <a:buNone/>
            </a:pPr>
            <a:r>
              <a:rPr lang="en-US" sz="2000">
                <a:latin typeface="Times New Roman" panose="02020503050405090304"/>
                <a:ea typeface="Times New Roman" panose="02020503050405090304"/>
                <a:cs typeface="Times New Roman" panose="02020503050405090304"/>
                <a:sym typeface="Times New Roman" panose="02020503050405090304"/>
              </a:rPr>
              <a:t>• Problem Statement</a:t>
            </a:r>
            <a:endParaRPr sz="2000">
              <a:latin typeface="Times New Roman" panose="02020503050405090304"/>
              <a:ea typeface="Times New Roman" panose="02020503050405090304"/>
              <a:cs typeface="Times New Roman" panose="02020503050405090304"/>
              <a:sym typeface="Times New Roman" panose="02020503050405090304"/>
            </a:endParaRPr>
          </a:p>
          <a:p>
            <a:pPr marL="0" lvl="0" indent="0" algn="just" rtl="0">
              <a:lnSpc>
                <a:spcPct val="150000"/>
              </a:lnSpc>
              <a:spcBef>
                <a:spcPts val="1000"/>
              </a:spcBef>
              <a:spcAft>
                <a:spcPts val="0"/>
              </a:spcAft>
              <a:buSzPts val="1600"/>
              <a:buNone/>
            </a:pPr>
            <a:r>
              <a:rPr lang="en-US" sz="2000">
                <a:latin typeface="Times New Roman" panose="02020503050405090304"/>
                <a:ea typeface="Times New Roman" panose="02020503050405090304"/>
                <a:cs typeface="Times New Roman" panose="02020503050405090304"/>
                <a:sym typeface="Times New Roman" panose="02020503050405090304"/>
              </a:rPr>
              <a:t>• Literature Survey</a:t>
            </a:r>
            <a:endParaRPr sz="2000">
              <a:latin typeface="Times New Roman" panose="02020503050405090304"/>
              <a:ea typeface="Times New Roman" panose="02020503050405090304"/>
              <a:cs typeface="Times New Roman" panose="02020503050405090304"/>
              <a:sym typeface="Times New Roman" panose="02020503050405090304"/>
            </a:endParaRPr>
          </a:p>
          <a:p>
            <a:pPr marL="0" lvl="0" indent="0" algn="just" rtl="0">
              <a:lnSpc>
                <a:spcPct val="150000"/>
              </a:lnSpc>
              <a:spcBef>
                <a:spcPts val="1000"/>
              </a:spcBef>
              <a:spcAft>
                <a:spcPts val="0"/>
              </a:spcAft>
              <a:buSzPts val="1600"/>
              <a:buNone/>
            </a:pPr>
            <a:r>
              <a:rPr lang="en-US" sz="2000">
                <a:latin typeface="Times New Roman" panose="02020503050405090304"/>
                <a:ea typeface="Times New Roman" panose="02020503050405090304"/>
                <a:cs typeface="Times New Roman" panose="02020503050405090304"/>
                <a:sym typeface="Times New Roman" panose="02020503050405090304"/>
              </a:rPr>
              <a:t>• Objective &amp; Scope</a:t>
            </a:r>
            <a:endParaRPr sz="2000">
              <a:latin typeface="Times New Roman" panose="02020503050405090304"/>
              <a:ea typeface="Times New Roman" panose="02020503050405090304"/>
              <a:cs typeface="Times New Roman" panose="02020503050405090304"/>
              <a:sym typeface="Times New Roman" panose="02020503050405090304"/>
            </a:endParaRPr>
          </a:p>
          <a:p>
            <a:pPr marL="0" lvl="0" indent="0" algn="just" rtl="0">
              <a:lnSpc>
                <a:spcPct val="150000"/>
              </a:lnSpc>
              <a:spcBef>
                <a:spcPts val="1000"/>
              </a:spcBef>
              <a:spcAft>
                <a:spcPts val="0"/>
              </a:spcAft>
              <a:buSzPts val="1600"/>
              <a:buNone/>
            </a:pPr>
            <a:r>
              <a:rPr lang="en-US" sz="2000">
                <a:latin typeface="Times New Roman" panose="02020503050405090304"/>
                <a:ea typeface="Times New Roman" panose="02020503050405090304"/>
                <a:cs typeface="Times New Roman" panose="02020503050405090304"/>
                <a:sym typeface="Times New Roman" panose="02020503050405090304"/>
              </a:rPr>
              <a:t>• Dataset</a:t>
            </a:r>
            <a:endParaRPr sz="2000">
              <a:latin typeface="Times New Roman" panose="02020503050405090304"/>
              <a:ea typeface="Times New Roman" panose="02020503050405090304"/>
              <a:cs typeface="Times New Roman" panose="02020503050405090304"/>
              <a:sym typeface="Times New Roman" panose="02020503050405090304"/>
            </a:endParaRPr>
          </a:p>
          <a:p>
            <a:pPr marL="342900" lvl="0" indent="-241300" algn="l" rtl="0">
              <a:spcBef>
                <a:spcPts val="1000"/>
              </a:spcBef>
              <a:spcAft>
                <a:spcPts val="0"/>
              </a:spcAft>
              <a:buSzPts val="1600"/>
              <a:buFont typeface="Noto Sans Symbols"/>
              <a:buNone/>
            </a:pPr>
            <a:endParaRPr sz="2000">
              <a:latin typeface="Trebuchet MS" panose="020B0703020202090204"/>
              <a:ea typeface="Trebuchet MS" panose="020B0703020202090204"/>
              <a:cs typeface="Trebuchet MS" panose="020B0703020202090204"/>
              <a:sym typeface="Trebuchet MS" panose="020B0703020202090204"/>
            </a:endParaRPr>
          </a:p>
        </p:txBody>
      </p:sp>
      <p:sp>
        <p:nvSpPr>
          <p:cNvPr id="152" name="Google Shape;152;p2"/>
          <p:cNvSpPr txBox="1"/>
          <p:nvPr/>
        </p:nvSpPr>
        <p:spPr>
          <a:xfrm>
            <a:off x="5829747" y="1969655"/>
            <a:ext cx="3196492" cy="3420919"/>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accent1"/>
              </a:buClr>
              <a:buSzPts val="1600"/>
              <a:buFont typeface="Noto Sans Symbols"/>
              <a:buNone/>
            </a:pPr>
            <a:r>
              <a:rPr lang="en-US"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rPr>
              <a:t>• Existing System</a:t>
            </a:r>
            <a:endParaRPr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just" rtl="0">
              <a:lnSpc>
                <a:spcPct val="150000"/>
              </a:lnSpc>
              <a:spcBef>
                <a:spcPts val="1000"/>
              </a:spcBef>
              <a:spcAft>
                <a:spcPts val="0"/>
              </a:spcAft>
              <a:buClr>
                <a:schemeClr val="accent1"/>
              </a:buClr>
              <a:buSzPts val="1600"/>
              <a:buFont typeface="Noto Sans Symbols"/>
              <a:buNone/>
            </a:pPr>
            <a:r>
              <a:rPr lang="en-US"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rPr>
              <a:t>    • Disadvantages</a:t>
            </a:r>
            <a:endParaRPr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just" rtl="0">
              <a:lnSpc>
                <a:spcPct val="150000"/>
              </a:lnSpc>
              <a:spcBef>
                <a:spcPts val="1000"/>
              </a:spcBef>
              <a:spcAft>
                <a:spcPts val="0"/>
              </a:spcAft>
              <a:buClr>
                <a:schemeClr val="accent1"/>
              </a:buClr>
              <a:buSzPts val="1600"/>
              <a:buFont typeface="Noto Sans Symbols"/>
              <a:buNone/>
            </a:pPr>
            <a:r>
              <a:rPr lang="en-US"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rPr>
              <a:t>• Proposed System</a:t>
            </a:r>
            <a:endParaRPr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just" rtl="0">
              <a:lnSpc>
                <a:spcPct val="150000"/>
              </a:lnSpc>
              <a:spcBef>
                <a:spcPts val="1000"/>
              </a:spcBef>
              <a:spcAft>
                <a:spcPts val="0"/>
              </a:spcAft>
              <a:buClr>
                <a:schemeClr val="accent1"/>
              </a:buClr>
              <a:buSzPts val="1600"/>
              <a:buFont typeface="Noto Sans Symbols"/>
              <a:buNone/>
            </a:pPr>
            <a:r>
              <a:rPr lang="en-US"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rPr>
              <a:t>   • Advantages</a:t>
            </a:r>
            <a:endParaRPr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just" rtl="0">
              <a:lnSpc>
                <a:spcPct val="150000"/>
              </a:lnSpc>
              <a:spcBef>
                <a:spcPts val="1000"/>
              </a:spcBef>
              <a:spcAft>
                <a:spcPts val="0"/>
              </a:spcAft>
              <a:buClr>
                <a:schemeClr val="accent1"/>
              </a:buClr>
              <a:buSzPts val="1600"/>
              <a:buFont typeface="Noto Sans Symbols"/>
              <a:buNone/>
            </a:pPr>
            <a:r>
              <a:rPr lang="en-US"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rPr>
              <a:t>• References</a:t>
            </a:r>
            <a:endParaRPr sz="2000" b="0" i="0" u="none" strike="noStrike" cap="none">
              <a:solidFill>
                <a:srgbClr val="3F3F3F"/>
              </a:solidFill>
              <a:latin typeface="Times New Roman" panose="02020503050405090304"/>
              <a:ea typeface="Times New Roman" panose="02020503050405090304"/>
              <a:cs typeface="Times New Roman" panose="02020503050405090304"/>
              <a:sym typeface="Times New Roman" panose="02020503050405090304"/>
            </a:endParaRPr>
          </a:p>
          <a:p>
            <a:pPr marL="342900" marR="0" lvl="0" indent="-241300" algn="l" rtl="0">
              <a:spcBef>
                <a:spcPts val="1000"/>
              </a:spcBef>
              <a:spcAft>
                <a:spcPts val="0"/>
              </a:spcAft>
              <a:buClr>
                <a:schemeClr val="accent1"/>
              </a:buClr>
              <a:buSzPts val="1600"/>
              <a:buFont typeface="Noto Sans Symbols"/>
              <a:buNone/>
            </a:pPr>
            <a:endParaRPr sz="2000" b="0" i="0" u="none" strike="noStrike" cap="none">
              <a:solidFill>
                <a:srgbClr val="3F3F3F"/>
              </a:solidFill>
              <a:latin typeface="Trebuchet MS" panose="020B0703020202090204"/>
              <a:ea typeface="Trebuchet MS" panose="020B0703020202090204"/>
              <a:cs typeface="Trebuchet MS" panose="020B0703020202090204"/>
              <a:sym typeface="Trebuchet MS" panose="020B070302020209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3"/>
          <p:cNvSpPr txBox="1"/>
          <p:nvPr>
            <p:ph type="title"/>
          </p:nvPr>
        </p:nvSpPr>
        <p:spPr>
          <a:xfrm>
            <a:off x="677334" y="536082"/>
            <a:ext cx="8596668" cy="1113763"/>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4000"/>
              <a:buFont typeface="Trebuchet MS" panose="020B0703020202090204"/>
              <a:buNone/>
            </a:pPr>
            <a:r>
              <a:rPr lang="en-US" sz="4000"/>
              <a:t> </a:t>
            </a: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ABSTRACT</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58" name="Google Shape;158;p3"/>
          <p:cNvSpPr txBox="1"/>
          <p:nvPr>
            <p:ph type="body" idx="1"/>
          </p:nvPr>
        </p:nvSpPr>
        <p:spPr>
          <a:xfrm>
            <a:off x="677334" y="1309254"/>
            <a:ext cx="8596668" cy="5205845"/>
          </a:xfrm>
          <a:prstGeom prst="rect">
            <a:avLst/>
          </a:prstGeom>
          <a:noFill/>
          <a:ln>
            <a:noFill/>
          </a:ln>
        </p:spPr>
        <p:txBody>
          <a:bodyPr spcFirstLastPara="1" wrap="square" lIns="91425" tIns="45700" rIns="91425" bIns="45700" anchor="t" anchorCtr="0">
            <a:normAutofit fontScale="92500" lnSpcReduction="10000"/>
          </a:bodyPr>
          <a:lstStyle/>
          <a:p>
            <a:pPr marL="457200" lvl="1" indent="0" algn="just" rtl="0">
              <a:lnSpc>
                <a:spcPct val="150000"/>
              </a:lnSpc>
              <a:spcBef>
                <a:spcPts val="0"/>
              </a:spcBef>
              <a:spcAft>
                <a:spcPts val="0"/>
              </a:spcAft>
              <a:buSzPct val="80000"/>
              <a:buNone/>
            </a:pPr>
            <a:r>
              <a:rPr lang="en-US" sz="2100">
                <a:latin typeface="Times New Roman" panose="02020503050405090304"/>
                <a:ea typeface="Times New Roman" panose="02020503050405090304"/>
                <a:cs typeface="Times New Roman" panose="02020503050405090304"/>
                <a:sym typeface="Times New Roman" panose="02020503050405090304"/>
              </a:rPr>
              <a:t>Retail businesses often face challenges in accurately forecasting product demand and maintaining optimal inventory levels, leading to stockouts or excess inventory. This project proposes an Integrated Machine Learning and Reinforcement Learning Framework for Retail Demand Forecasting and Inventory Decision Optimization. The system uses historical retail data to predict future demand using Machine Learning techniques and applies Reinforcement Learning to determine suitable inventory and replenishment decisions. The framework considers factors such as sales, inventory levels, pricing, discounts, promotions, weather conditions, and seasonality. By integrating demand prediction with intelligent inventory decision-making, the proposed system aims to reduce stockouts and excess inventory while improving overall inventory efficiency and supporting data-driven retail management</a:t>
            </a:r>
            <a:r>
              <a:rPr lang="en-US" sz="2000">
                <a:latin typeface="Times New Roman" panose="02020503050405090304"/>
                <a:ea typeface="Times New Roman" panose="02020503050405090304"/>
                <a:cs typeface="Times New Roman" panose="02020503050405090304"/>
                <a:sym typeface="Times New Roman" panose="02020503050405090304"/>
              </a:rPr>
              <a:t>.</a:t>
            </a:r>
            <a:endParaRPr sz="2000">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4"/>
          <p:cNvSpPr txBox="1"/>
          <p:nvPr>
            <p:ph type="title"/>
          </p:nvPr>
        </p:nvSpPr>
        <p:spPr>
          <a:xfrm>
            <a:off x="677334" y="432174"/>
            <a:ext cx="8596668" cy="1113762"/>
          </a:xfrm>
          <a:prstGeom prst="rect">
            <a:avLst/>
          </a:prstGeom>
          <a:noFill/>
          <a:ln>
            <a:noFill/>
          </a:ln>
        </p:spPr>
        <p:txBody>
          <a:bodyPr spcFirstLastPara="1" wrap="square" lIns="91425" tIns="45700" rIns="91425" bIns="45700" anchor="t" anchorCtr="0">
            <a:normAutofit fontScale="90000"/>
          </a:bodyPr>
          <a:lstStyle/>
          <a:p>
            <a:pPr marL="0" lvl="0" indent="0" algn="ctr" rtl="0">
              <a:spcBef>
                <a:spcPts val="0"/>
              </a:spcBef>
              <a:spcAft>
                <a:spcPts val="0"/>
              </a:spcAft>
              <a:buClr>
                <a:schemeClr val="dk1"/>
              </a:buClr>
              <a:buSzPct val="100000"/>
              <a:buFont typeface="Times New Roman" panose="02020503050405090304"/>
              <a:buNone/>
            </a:pPr>
            <a:r>
              <a:rPr lang="en-US" sz="3100" b="1">
                <a:solidFill>
                  <a:schemeClr val="dk1"/>
                </a:solidFill>
                <a:latin typeface="Times New Roman" panose="02020503050405090304"/>
                <a:ea typeface="Times New Roman" panose="02020503050405090304"/>
                <a:cs typeface="Times New Roman" panose="02020503050405090304"/>
                <a:sym typeface="Times New Roman" panose="02020503050405090304"/>
              </a:rPr>
              <a:t>PROBLEM STATEMENT</a:t>
            </a:r>
            <a:br>
              <a:rPr lang="en-US" sz="4000"/>
            </a:br>
            <a:endParaRPr sz="4000" b="1">
              <a:solidFill>
                <a:schemeClr val="dk1"/>
              </a:solidFill>
            </a:endParaRPr>
          </a:p>
        </p:txBody>
      </p:sp>
      <p:sp>
        <p:nvSpPr>
          <p:cNvPr id="164" name="Google Shape;164;p4"/>
          <p:cNvSpPr txBox="1"/>
          <p:nvPr>
            <p:ph type="body" idx="1"/>
          </p:nvPr>
        </p:nvSpPr>
        <p:spPr>
          <a:xfrm>
            <a:off x="677334" y="1267712"/>
            <a:ext cx="8596668" cy="5158113"/>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SzPts val="1600"/>
              <a:buFont typeface="Noto Sans Symbols"/>
              <a:buChar char="⮚"/>
            </a:pPr>
            <a:r>
              <a:rPr lang="en-US" sz="2000">
                <a:latin typeface="Times New Roman" panose="02020503050405090304"/>
                <a:ea typeface="Times New Roman" panose="02020503050405090304"/>
                <a:cs typeface="Times New Roman" panose="02020503050405090304"/>
                <a:sym typeface="Times New Roman" panose="02020503050405090304"/>
              </a:rPr>
              <a:t>Inaccurate demand forecasting can lead to insufficient or excess inventory.</a:t>
            </a:r>
            <a:endParaRPr sz="20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600"/>
              <a:buFont typeface="Noto Sans Symbols"/>
              <a:buChar char="⮚"/>
            </a:pPr>
            <a:r>
              <a:rPr lang="en-US" sz="2000">
                <a:latin typeface="Times New Roman" panose="02020503050405090304"/>
                <a:ea typeface="Times New Roman" panose="02020503050405090304"/>
                <a:cs typeface="Times New Roman" panose="02020503050405090304"/>
                <a:sym typeface="Times New Roman" panose="02020503050405090304"/>
              </a:rPr>
              <a:t>Stockouts can result in lost sales and reduced customer satisfaction. </a:t>
            </a:r>
            <a:endParaRPr sz="20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600"/>
              <a:buFont typeface="Noto Sans Symbols"/>
              <a:buChar char="⮚"/>
            </a:pPr>
            <a:r>
              <a:rPr lang="en-US" sz="2000">
                <a:latin typeface="Times New Roman" panose="02020503050405090304"/>
                <a:ea typeface="Times New Roman" panose="02020503050405090304"/>
                <a:cs typeface="Times New Roman" panose="02020503050405090304"/>
                <a:sym typeface="Times New Roman" panose="02020503050405090304"/>
              </a:rPr>
              <a:t>Overstocking increases holding costs and causes inefficient use of storage resources.</a:t>
            </a:r>
            <a:endParaRPr sz="20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600"/>
              <a:buFont typeface="Noto Sans Symbols"/>
              <a:buChar char="⮚"/>
            </a:pPr>
            <a:r>
              <a:rPr lang="en-US" sz="2000">
                <a:latin typeface="Times New Roman" panose="02020503050405090304"/>
                <a:ea typeface="Times New Roman" panose="02020503050405090304"/>
                <a:cs typeface="Times New Roman" panose="02020503050405090304"/>
                <a:sym typeface="Times New Roman" panose="02020503050405090304"/>
              </a:rPr>
              <a:t>Traditional inventory methods may not effectively adapt to changing demand, promotions, pricing, and seasonal patterns.</a:t>
            </a:r>
            <a:endParaRPr sz="20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600"/>
              <a:buFont typeface="Noto Sans Symbols"/>
              <a:buChar char="⮚"/>
            </a:pPr>
            <a:r>
              <a:rPr lang="en-US" sz="2000">
                <a:latin typeface="Times New Roman" panose="02020503050405090304"/>
                <a:ea typeface="Times New Roman" panose="02020503050405090304"/>
                <a:cs typeface="Times New Roman" panose="02020503050405090304"/>
                <a:sym typeface="Times New Roman" panose="02020503050405090304"/>
              </a:rPr>
              <a:t>There is a need for an integrated ML and RL approach that predicts demand and intelligently determines inventory/replenishment decisions</a:t>
            </a:r>
            <a:endParaRPr sz="2000">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sp>
        <p:nvSpPr>
          <p:cNvPr id="169" name="Google Shape;169;p6"/>
          <p:cNvSpPr txBox="1"/>
          <p:nvPr>
            <p:ph type="title"/>
          </p:nvPr>
        </p:nvSpPr>
        <p:spPr>
          <a:xfrm>
            <a:off x="677334" y="411061"/>
            <a:ext cx="8596668" cy="1006677"/>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2800"/>
              <a:buFont typeface="Times New Roman" panose="02020503050405090304"/>
              <a:buNone/>
            </a:pPr>
            <a:r>
              <a:rPr lang="en-US" sz="2800">
                <a:latin typeface="Times New Roman" panose="02020503050405090304"/>
                <a:ea typeface="Times New Roman" panose="02020503050405090304"/>
                <a:cs typeface="Times New Roman" panose="02020503050405090304"/>
                <a:sym typeface="Times New Roman" panose="02020503050405090304"/>
              </a:rPr>
              <a:t> </a:t>
            </a: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LITERATURE SURVEY</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graphicFrame>
        <p:nvGraphicFramePr>
          <p:cNvPr id="170" name="Google Shape;170;p6"/>
          <p:cNvGraphicFramePr/>
          <p:nvPr/>
        </p:nvGraphicFramePr>
        <p:xfrm>
          <a:off x="363682" y="1050269"/>
          <a:ext cx="9272550" cy="5244425"/>
        </p:xfrm>
        <a:graphic>
          <a:graphicData uri="http://schemas.openxmlformats.org/drawingml/2006/table">
            <a:tbl>
              <a:tblPr firstRow="1" bandRow="1">
                <a:noFill/>
                <a:tableStyleId>{712811CB-8EAA-4662-B023-A8F0B171D24B}</a:tableStyleId>
              </a:tblPr>
              <a:tblGrid>
                <a:gridCol w="1978175"/>
                <a:gridCol w="889725"/>
                <a:gridCol w="1760200"/>
                <a:gridCol w="1617575"/>
                <a:gridCol w="3026875"/>
              </a:tblGrid>
              <a:tr h="861525">
                <a:tc>
                  <a:txBody>
                    <a:bodyPr/>
                    <a:lstStyle/>
                    <a:p>
                      <a:pPr marL="0" marR="0" lvl="0" indent="0" algn="ctr" rtl="0">
                        <a:lnSpc>
                          <a:spcPct val="100000"/>
                        </a:lnSpc>
                        <a:spcBef>
                          <a:spcPts val="0"/>
                        </a:spcBef>
                        <a:spcAft>
                          <a:spcPts val="0"/>
                        </a:spcAft>
                        <a:buClr>
                          <a:schemeClr val="dk1"/>
                        </a:buClr>
                        <a:buSzPts val="1800"/>
                        <a:buFont typeface="Trebuchet MS" panose="020B0703020202090204"/>
                        <a:buNone/>
                      </a:pPr>
                      <a:endParaRPr sz="1800" b="1" u="none" strike="noStrike" cap="none"/>
                    </a:p>
                    <a:p>
                      <a:pPr marL="0" marR="0" lvl="0" indent="0" algn="ctr" rtl="0">
                        <a:lnSpc>
                          <a:spcPct val="100000"/>
                        </a:lnSpc>
                        <a:spcBef>
                          <a:spcPts val="0"/>
                        </a:spcBef>
                        <a:spcAft>
                          <a:spcPts val="0"/>
                        </a:spcAft>
                        <a:buClr>
                          <a:schemeClr val="dk1"/>
                        </a:buClr>
                        <a:buSzPts val="1800"/>
                        <a:buFont typeface="Trebuchet MS" panose="020B0703020202090204"/>
                        <a:buNone/>
                      </a:pPr>
                      <a:r>
                        <a:rPr lang="en-US" sz="1800" b="1" u="none" strike="noStrike" cap="none"/>
                        <a:t>Project Title</a:t>
                      </a:r>
                      <a:endParaRPr sz="1800" u="none" strike="noStrike" cap="none"/>
                    </a:p>
                    <a:p>
                      <a:pPr marL="0" marR="0" lvl="0" indent="0" algn="l" rtl="0">
                        <a:spcBef>
                          <a:spcPts val="0"/>
                        </a:spcBef>
                        <a:spcAft>
                          <a:spcPts val="0"/>
                        </a:spcAft>
                        <a:buClr>
                          <a:schemeClr val="dk1"/>
                        </a:buClr>
                        <a:buSzPts val="1800"/>
                        <a:buFont typeface="Trebuchet MS" panose="020B0703020202090204"/>
                        <a:buNone/>
                      </a:pPr>
                      <a:endParaRPr sz="1800" u="none" strike="noStrike" cap="none"/>
                    </a:p>
                  </a:txBody>
                  <a:tcPr marL="91450" marR="91450" marT="45725" marB="45725" anchor="ctr"/>
                </a:tc>
                <a:tc>
                  <a:txBody>
                    <a:bodyPr/>
                    <a:lstStyle/>
                    <a:p>
                      <a:pPr marL="0" marR="0" lvl="0" indent="0" algn="ctr" rtl="0">
                        <a:spcBef>
                          <a:spcPts val="0"/>
                        </a:spcBef>
                        <a:spcAft>
                          <a:spcPts val="0"/>
                        </a:spcAft>
                        <a:buNone/>
                      </a:pPr>
                      <a:endParaRPr sz="1800" u="none" strike="noStrike" cap="none"/>
                    </a:p>
                    <a:p>
                      <a:pPr marL="0" marR="0" lvl="0" indent="0" algn="ctr" rtl="0">
                        <a:spcBef>
                          <a:spcPts val="0"/>
                        </a:spcBef>
                        <a:spcAft>
                          <a:spcPts val="0"/>
                        </a:spcAft>
                        <a:buNone/>
                      </a:pPr>
                      <a:r>
                        <a:rPr lang="en-US" sz="1800" u="none" strike="noStrike" cap="none"/>
                        <a:t>Year</a:t>
                      </a:r>
                      <a:endParaRPr sz="1800" u="none" strike="noStrike" cap="none"/>
                    </a:p>
                  </a:txBody>
                  <a:tcPr marL="91450" marR="91450" marT="45725" marB="45725"/>
                </a:tc>
                <a:tc>
                  <a:txBody>
                    <a:bodyPr/>
                    <a:lstStyle/>
                    <a:p>
                      <a:pPr marL="0" marR="0" lvl="0" indent="0" algn="ctr" rtl="0">
                        <a:spcBef>
                          <a:spcPts val="0"/>
                        </a:spcBef>
                        <a:spcAft>
                          <a:spcPts val="0"/>
                        </a:spcAft>
                        <a:buNone/>
                      </a:pPr>
                      <a:endParaRPr sz="1800" u="none" strike="noStrike" cap="none"/>
                    </a:p>
                    <a:p>
                      <a:pPr marL="0" marR="0" lvl="0" indent="0" algn="ctr" rtl="0">
                        <a:spcBef>
                          <a:spcPts val="0"/>
                        </a:spcBef>
                        <a:spcAft>
                          <a:spcPts val="0"/>
                        </a:spcAft>
                        <a:buNone/>
                      </a:pPr>
                      <a:r>
                        <a:rPr lang="en-US" sz="1800" u="none" strike="noStrike" cap="none"/>
                        <a:t>Author(s)</a:t>
                      </a:r>
                      <a:endParaRPr sz="1800" u="none" strike="noStrike" cap="none"/>
                    </a:p>
                  </a:txBody>
                  <a:tcPr marL="91450" marR="91450" marT="45725" marB="45725"/>
                </a:tc>
                <a:tc>
                  <a:txBody>
                    <a:bodyPr/>
                    <a:lstStyle/>
                    <a:p>
                      <a:pPr marL="0" marR="0" lvl="0" indent="0" algn="l" rtl="0">
                        <a:lnSpc>
                          <a:spcPct val="100000"/>
                        </a:lnSpc>
                        <a:spcBef>
                          <a:spcPts val="0"/>
                        </a:spcBef>
                        <a:spcAft>
                          <a:spcPts val="0"/>
                        </a:spcAft>
                        <a:buNone/>
                      </a:pPr>
                      <a:r>
                        <a:rPr lang="en-US" sz="1800" u="none" strike="noStrike" cap="none"/>
                        <a:t>Methods / Models Used</a:t>
                      </a:r>
                      <a:endParaRPr sz="1800" u="none" strike="noStrike" cap="none"/>
                    </a:p>
                  </a:txBody>
                  <a:tcPr marL="91450" marR="91450" marT="45725" marB="45725"/>
                </a:tc>
                <a:tc>
                  <a:txBody>
                    <a:bodyPr/>
                    <a:lstStyle/>
                    <a:p>
                      <a:pPr marL="0" marR="0" lvl="0" indent="0" algn="just" rtl="0">
                        <a:spcBef>
                          <a:spcPts val="0"/>
                        </a:spcBef>
                        <a:spcAft>
                          <a:spcPts val="0"/>
                        </a:spcAft>
                        <a:buNone/>
                      </a:pPr>
                      <a:r>
                        <a:rPr lang="en-US" sz="1800" u="none" strike="noStrike" cap="none"/>
                        <a:t>      key</a:t>
                      </a:r>
                      <a:endParaRPr sz="1800" u="none" strike="noStrike" cap="none"/>
                    </a:p>
                    <a:p>
                      <a:pPr marL="0" marR="0" lvl="0" indent="0" algn="just" rtl="0">
                        <a:spcBef>
                          <a:spcPts val="0"/>
                        </a:spcBef>
                        <a:spcAft>
                          <a:spcPts val="0"/>
                        </a:spcAft>
                        <a:buNone/>
                      </a:pPr>
                      <a:r>
                        <a:rPr lang="en-US" sz="1800" u="none" strike="noStrike" cap="none"/>
                        <a:t> Contribution</a:t>
                      </a:r>
                      <a:endParaRPr sz="1800" u="none" strike="noStrike" cap="none"/>
                    </a:p>
                  </a:txBody>
                  <a:tcPr marL="91450" marR="91450" marT="45725" marB="45725"/>
                </a:tc>
              </a:tr>
              <a:tr h="1493300">
                <a:tc>
                  <a:txBody>
                    <a:bodyPr/>
                    <a:lstStyle/>
                    <a:p>
                      <a:pPr marL="0" marR="0" lvl="0" indent="0" algn="l" rtl="0">
                        <a:spcBef>
                          <a:spcPts val="0"/>
                        </a:spcBef>
                        <a:spcAft>
                          <a:spcPts val="0"/>
                        </a:spcAft>
                        <a:buNone/>
                      </a:pPr>
                      <a:r>
                        <a:rPr lang="en-US" sz="1400" u="none" strike="noStrike" cap="none">
                          <a:latin typeface="Times New Roman" panose="02020503050405090304"/>
                          <a:ea typeface="Times New Roman" panose="02020503050405090304"/>
                          <a:cs typeface="Times New Roman" panose="02020503050405090304"/>
                          <a:sym typeface="Times New Roman" panose="02020503050405090304"/>
                        </a:rPr>
                        <a:t>Neuroevolution Reinforcement Learning for Multi-Echelon Inventory Optimization with Delivery Options and Uncertain Discount</a:t>
                      </a:r>
                      <a:endParaRPr sz="1400" u="none" strike="noStrike" cap="none">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endParaRPr sz="18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endParaRPr sz="18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r>
                        <a:rPr lang="en-US" sz="1800">
                          <a:latin typeface="Times New Roman" panose="02020503050405090304"/>
                          <a:ea typeface="Times New Roman" panose="02020503050405090304"/>
                          <a:cs typeface="Times New Roman" panose="02020503050405090304"/>
                          <a:sym typeface="Times New Roman" panose="02020503050405090304"/>
                        </a:rPr>
                        <a:t>  2024</a:t>
                      </a:r>
                      <a:endParaRPr sz="18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endParaRPr sz="14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endParaRPr sz="14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Zakka Ugih Rizqi, Shuo-Yan Chou</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Neuroevolution Reinforcement Learning (NERL), Artificial Neural Network (ANN), Evolutionary Algorithms</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Optimizes inventory decisions under uncertain demand, lead time, discounts, and multiple delivery options.</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r>
              <a:tr h="1363900">
                <a:tc>
                  <a:txBody>
                    <a:bodyPr/>
                    <a:lstStyle/>
                    <a:p>
                      <a:pPr marL="0" marR="0" lvl="0" indent="0" algn="l" rtl="0">
                        <a:spcBef>
                          <a:spcPts val="0"/>
                        </a:spcBef>
                        <a:spcAft>
                          <a:spcPts val="0"/>
                        </a:spcAft>
                        <a:buClr>
                          <a:schemeClr val="dk1"/>
                        </a:buClr>
                        <a:buSzPts val="1400"/>
                        <a:buFont typeface="Times New Roman" panose="02020503050405090304"/>
                        <a:buNone/>
                      </a:pPr>
                      <a:r>
                        <a:rPr lang="en-US" sz="1400">
                          <a:latin typeface="Times New Roman" panose="02020503050405090304"/>
                          <a:ea typeface="Times New Roman" panose="02020503050405090304"/>
                          <a:cs typeface="Times New Roman" panose="02020503050405090304"/>
                          <a:sym typeface="Times New Roman" panose="02020503050405090304"/>
                        </a:rPr>
                        <a:t>IACPPO: A Deep Reinforcement Learning-Based Model for Warehouse Inventory Replenishment</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nchor="ctr"/>
                </a:tc>
                <a:tc>
                  <a:txBody>
                    <a:bodyPr/>
                    <a:lstStyle/>
                    <a:p>
                      <a:pPr marL="0" marR="0" lvl="0" indent="0" algn="l" rtl="0">
                        <a:spcBef>
                          <a:spcPts val="0"/>
                        </a:spcBef>
                        <a:spcAft>
                          <a:spcPts val="0"/>
                        </a:spcAft>
                        <a:buClr>
                          <a:schemeClr val="dk1"/>
                        </a:buClr>
                        <a:buSzPts val="1800"/>
                        <a:buFont typeface="Times New Roman" panose="02020503050405090304"/>
                        <a:buNone/>
                      </a:pPr>
                      <a:r>
                        <a:rPr lang="en-US" sz="1800">
                          <a:latin typeface="Times New Roman" panose="02020503050405090304"/>
                          <a:ea typeface="Times New Roman" panose="02020503050405090304"/>
                          <a:cs typeface="Times New Roman" panose="02020503050405090304"/>
                          <a:sym typeface="Times New Roman" panose="02020503050405090304"/>
                        </a:rPr>
                        <a:t> 2024</a:t>
                      </a:r>
                      <a:endParaRPr sz="18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nchor="ctr"/>
                </a:tc>
                <a:tc>
                  <a:txBody>
                    <a:bodyPr/>
                    <a:lstStyle/>
                    <a:p>
                      <a:pPr marL="0" marR="0" lvl="0" indent="0" algn="l" rtl="0">
                        <a:spcBef>
                          <a:spcPts val="0"/>
                        </a:spcBef>
                        <a:spcAft>
                          <a:spcPts val="0"/>
                        </a:spcAft>
                        <a:buNone/>
                      </a:pPr>
                      <a:endParaRPr sz="14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endParaRPr sz="14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Ran Tian, Meng Lu, Haopeng Wang, Bo Wang, Qingxia Tang</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Clr>
                          <a:schemeClr val="dk1"/>
                        </a:buClr>
                        <a:buSzPts val="1400"/>
                        <a:buFont typeface="Times New Roman" panose="02020503050405090304"/>
                        <a:buNone/>
                      </a:pPr>
                      <a:r>
                        <a:rPr lang="en-US" sz="1400">
                          <a:latin typeface="Times New Roman" panose="02020503050405090304"/>
                          <a:ea typeface="Times New Roman" panose="02020503050405090304"/>
                          <a:cs typeface="Times New Roman" panose="02020503050405090304"/>
                          <a:sym typeface="Times New Roman" panose="02020503050405090304"/>
                        </a:rPr>
                        <a:t>GRU, Attention Mechanism, A2C, PPO</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nchor="ctr"/>
                </a:tc>
                <a:tc>
                  <a:txBody>
                    <a:bodyPr/>
                    <a:lstStyle/>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Combines A2C and PPO with GRU and attention to learn effective inventory replenishment strategies under changing demand conditions.</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r>
              <a:tr h="1525700">
                <a:tc>
                  <a:txBody>
                    <a:bodyPr/>
                    <a:lstStyle/>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Data-Driven Dynamic Pricing and Inventory Management of an Omni-Channel Retailer in an Uncertain Demand Environment</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ctr" rtl="0">
                        <a:spcBef>
                          <a:spcPts val="0"/>
                        </a:spcBef>
                        <a:spcAft>
                          <a:spcPts val="0"/>
                        </a:spcAft>
                        <a:buNone/>
                      </a:pPr>
                      <a:endParaRPr sz="1800">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spcBef>
                          <a:spcPts val="0"/>
                        </a:spcBef>
                        <a:spcAft>
                          <a:spcPts val="0"/>
                        </a:spcAft>
                        <a:buNone/>
                      </a:pPr>
                      <a:endParaRPr sz="1800">
                        <a:latin typeface="Times New Roman" panose="02020503050405090304"/>
                        <a:ea typeface="Times New Roman" panose="02020503050405090304"/>
                        <a:cs typeface="Times New Roman" panose="02020503050405090304"/>
                        <a:sym typeface="Times New Roman" panose="02020503050405090304"/>
                      </a:endParaRPr>
                    </a:p>
                    <a:p>
                      <a:pPr marL="0" marR="0" lvl="0" indent="0" algn="ctr" rtl="0">
                        <a:spcBef>
                          <a:spcPts val="0"/>
                        </a:spcBef>
                        <a:spcAft>
                          <a:spcPts val="0"/>
                        </a:spcAft>
                        <a:buNone/>
                      </a:pPr>
                      <a:r>
                        <a:rPr lang="en-US" sz="1800">
                          <a:latin typeface="Times New Roman" panose="02020503050405090304"/>
                          <a:ea typeface="Times New Roman" panose="02020503050405090304"/>
                          <a:cs typeface="Times New Roman" panose="02020503050405090304"/>
                          <a:sym typeface="Times New Roman" panose="02020503050405090304"/>
                        </a:rPr>
                        <a:t>2024</a:t>
                      </a:r>
                      <a:endParaRPr sz="18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endParaRPr sz="16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r>
                        <a:rPr lang="en-US" sz="1600">
                          <a:latin typeface="Times New Roman" panose="02020503050405090304"/>
                          <a:ea typeface="Times New Roman" panose="02020503050405090304"/>
                          <a:cs typeface="Times New Roman" panose="02020503050405090304"/>
                          <a:sym typeface="Times New Roman" panose="02020503050405090304"/>
                        </a:rPr>
                        <a:t>Shiyu Liu, Jun Wang, Rui Wang, Yue Zhang, Yanjie Song, Lining Xing</a:t>
                      </a:r>
                      <a:endParaRPr sz="16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endParaRPr sz="16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endParaRPr sz="1400">
                        <a:latin typeface="Times New Roman" panose="02020503050405090304"/>
                        <a:ea typeface="Times New Roman" panose="02020503050405090304"/>
                        <a:cs typeface="Times New Roman" panose="02020503050405090304"/>
                        <a:sym typeface="Times New Roman" panose="02020503050405090304"/>
                      </a:endParaRPr>
                    </a:p>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LSTM, Maskable PPO (ML-PPO), POMDP</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c>
                  <a:txBody>
                    <a:bodyPr/>
                    <a:lstStyle/>
                    <a:p>
                      <a:pPr marL="0" marR="0" lvl="0" indent="0" algn="l" rtl="0">
                        <a:spcBef>
                          <a:spcPts val="0"/>
                        </a:spcBef>
                        <a:spcAft>
                          <a:spcPts val="0"/>
                        </a:spcAft>
                        <a:buNone/>
                      </a:pPr>
                      <a:r>
                        <a:rPr lang="en-US" sz="1400">
                          <a:latin typeface="Times New Roman" panose="02020503050405090304"/>
                          <a:ea typeface="Times New Roman" panose="02020503050405090304"/>
                          <a:cs typeface="Times New Roman" panose="02020503050405090304"/>
                          <a:sym typeface="Times New Roman" panose="02020503050405090304"/>
                        </a:rPr>
                        <a:t>Integrates future-demand prediction with PPO to optimize pricing, replenishment, and inventory-rationing decisions for an omni-channel retailer.</a:t>
                      </a:r>
                      <a:endParaRPr sz="1400">
                        <a:latin typeface="Times New Roman" panose="02020503050405090304"/>
                        <a:ea typeface="Times New Roman" panose="02020503050405090304"/>
                        <a:cs typeface="Times New Roman" panose="02020503050405090304"/>
                        <a:sym typeface="Times New Roman" panose="02020503050405090304"/>
                      </a:endParaRPr>
                    </a:p>
                  </a:txBody>
                  <a:tcPr marL="91450" marR="91450" marT="45725" marB="457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7"/>
          <p:cNvSpPr txBox="1"/>
          <p:nvPr>
            <p:ph type="title"/>
          </p:nvPr>
        </p:nvSpPr>
        <p:spPr>
          <a:xfrm>
            <a:off x="563034" y="136968"/>
            <a:ext cx="8596668" cy="59841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Font typeface="Times New Roman" panose="02020503050405090304"/>
              <a:buNone/>
            </a:pP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 OBJECTIVE</a:t>
            </a:r>
            <a:b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b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76" name="Google Shape;176;p7"/>
          <p:cNvSpPr txBox="1"/>
          <p:nvPr>
            <p:ph type="body" idx="1"/>
          </p:nvPr>
        </p:nvSpPr>
        <p:spPr>
          <a:xfrm>
            <a:off x="563034" y="586115"/>
            <a:ext cx="8596668" cy="2828497"/>
          </a:xfrm>
          <a:prstGeom prst="rect">
            <a:avLst/>
          </a:prstGeom>
          <a:noFill/>
          <a:ln>
            <a:noFill/>
          </a:ln>
        </p:spPr>
        <p:txBody>
          <a:bodyPr spcFirstLastPara="1" wrap="square" lIns="91425" tIns="45700" rIns="91425" bIns="45700" anchor="t" anchorCtr="0">
            <a:noAutofit/>
          </a:bodyPr>
          <a:lstStyle/>
          <a:p>
            <a:pPr marL="342900" lvl="0" indent="-342900" algn="just" rtl="0">
              <a:lnSpc>
                <a:spcPct val="130000"/>
              </a:lnSpc>
              <a:spcBef>
                <a:spcPts val="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Demand Prediction – Use Machine Learning to study past sales data and predict how much of each product customers may need in the future.</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3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Inventory Optimization – Use Reinforcement Learning to decide how much stock should be ordered based on predicted demand and current inventory. </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3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ML + RL Integration – Combine both techniques so that the system can make smarter and more efficient inventory decisions.</a:t>
            </a:r>
            <a:endParaRPr>
              <a:latin typeface="Times New Roman" panose="02020503050405090304"/>
              <a:ea typeface="Times New Roman" panose="02020503050405090304"/>
              <a:cs typeface="Times New Roman" panose="02020503050405090304"/>
              <a:sym typeface="Times New Roman" panose="02020503050405090304"/>
            </a:endParaRPr>
          </a:p>
          <a:p>
            <a:pPr marL="0" lvl="0" indent="0" algn="just" rtl="0">
              <a:spcBef>
                <a:spcPts val="1000"/>
              </a:spcBef>
              <a:spcAft>
                <a:spcPts val="0"/>
              </a:spcAft>
              <a:buSzPts val="1440"/>
              <a:buNone/>
            </a:pPr>
            <a:endParaRPr>
              <a:latin typeface="Times New Roman" panose="02020503050405090304"/>
              <a:ea typeface="Times New Roman" panose="02020503050405090304"/>
              <a:cs typeface="Times New Roman" panose="02020503050405090304"/>
              <a:sym typeface="Times New Roman" panose="02020503050405090304"/>
            </a:endParaRPr>
          </a:p>
        </p:txBody>
      </p:sp>
      <p:sp>
        <p:nvSpPr>
          <p:cNvPr id="177" name="Google Shape;177;p7"/>
          <p:cNvSpPr txBox="1"/>
          <p:nvPr/>
        </p:nvSpPr>
        <p:spPr>
          <a:xfrm>
            <a:off x="563034" y="3265269"/>
            <a:ext cx="848863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chemeClr val="dk1"/>
                </a:solidFill>
                <a:latin typeface="Trebuchet MS" panose="020B0703020202090204"/>
                <a:ea typeface="Trebuchet MS" panose="020B0703020202090204"/>
                <a:cs typeface="Trebuchet MS" panose="020B0703020202090204"/>
                <a:sym typeface="Trebuchet MS" panose="020B0703020202090204"/>
              </a:rPr>
              <a:t> </a:t>
            </a:r>
            <a:r>
              <a:rPr lang="en-US" sz="2800" b="1" i="0" u="none" strike="noStrike" cap="none">
                <a:solidFill>
                  <a:schemeClr val="dk1"/>
                </a:solidFill>
                <a:latin typeface="Times New Roman" panose="02020503050405090304"/>
                <a:ea typeface="Times New Roman" panose="02020503050405090304"/>
                <a:cs typeface="Times New Roman" panose="02020503050405090304"/>
                <a:sym typeface="Times New Roman" panose="02020503050405090304"/>
              </a:rPr>
              <a:t>SCOPE </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78" name="Google Shape;178;p7"/>
          <p:cNvSpPr txBox="1"/>
          <p:nvPr/>
        </p:nvSpPr>
        <p:spPr>
          <a:xfrm>
            <a:off x="563034" y="3911600"/>
            <a:ext cx="8825346" cy="2861310"/>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16B0E3"/>
              </a:buClr>
              <a:buSzPts val="1800"/>
              <a:buFont typeface="Arial" panose="020B0604020202090204"/>
              <a:buChar char="•"/>
            </a:pPr>
            <a:r>
              <a:rPr lang="en-US" sz="1800">
                <a:solidFill>
                  <a:schemeClr val="dk1"/>
                </a:solidFill>
                <a:latin typeface="Times New Roman" panose="02020503050405090304"/>
                <a:ea typeface="Times New Roman" panose="02020503050405090304"/>
                <a:cs typeface="Times New Roman" panose="02020503050405090304"/>
                <a:sym typeface="Times New Roman" panose="02020503050405090304"/>
              </a:rPr>
              <a:t>Demand Forecasting – The system predicts future product demand using factors such as sales, price, discounts, promotions, weather, and seasonality. </a:t>
            </a:r>
            <a:endParaRPr sz="1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342900" marR="0" lvl="0" indent="-342900" algn="just" rtl="0">
              <a:lnSpc>
                <a:spcPct val="150000"/>
              </a:lnSpc>
              <a:spcBef>
                <a:spcPts val="0"/>
              </a:spcBef>
              <a:spcAft>
                <a:spcPts val="0"/>
              </a:spcAft>
              <a:buClr>
                <a:srgbClr val="16B0E3"/>
              </a:buClr>
              <a:buSzPts val="1800"/>
              <a:buFont typeface="Arial" panose="020B0604020202090204"/>
              <a:buChar char="•"/>
            </a:pPr>
            <a:r>
              <a:rPr lang="en-US" sz="1800">
                <a:solidFill>
                  <a:schemeClr val="dk1"/>
                </a:solidFill>
                <a:latin typeface="Times New Roman" panose="02020503050405090304"/>
                <a:ea typeface="Times New Roman" panose="02020503050405090304"/>
                <a:cs typeface="Times New Roman" panose="02020503050405090304"/>
                <a:sym typeface="Times New Roman" panose="02020503050405090304"/>
              </a:rPr>
              <a:t>Smart Reordering – Based on predicted demand and available inventory, the system recommends an appropriate quantity to reorder.</a:t>
            </a:r>
            <a:endParaRPr sz="1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342900" marR="0" lvl="0" indent="-342900" algn="just" rtl="0">
              <a:lnSpc>
                <a:spcPct val="150000"/>
              </a:lnSpc>
              <a:spcBef>
                <a:spcPts val="0"/>
              </a:spcBef>
              <a:spcAft>
                <a:spcPts val="0"/>
              </a:spcAft>
              <a:buClr>
                <a:srgbClr val="16B0E3"/>
              </a:buClr>
              <a:buSzPts val="1800"/>
              <a:buFont typeface="Arial" panose="020B0604020202090204"/>
              <a:buChar char="•"/>
            </a:pPr>
            <a:r>
              <a:rPr lang="en-US" sz="1800">
                <a:solidFill>
                  <a:schemeClr val="dk1"/>
                </a:solidFill>
                <a:latin typeface="Times New Roman" panose="02020503050405090304"/>
                <a:ea typeface="Times New Roman" panose="02020503050405090304"/>
                <a:cs typeface="Times New Roman" panose="02020503050405090304"/>
                <a:sym typeface="Times New Roman" panose="02020503050405090304"/>
              </a:rPr>
              <a:t>Inventory Performance – The system helps reduce stockouts and excess inventory and evaluates how effectively inventory is managed.</a:t>
            </a:r>
            <a:endParaRPr sz="1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a:p>
            <a:pPr marL="0" marR="0" lvl="0" indent="0" algn="just" rtl="0">
              <a:spcBef>
                <a:spcPts val="0"/>
              </a:spcBef>
              <a:spcAft>
                <a:spcPts val="0"/>
              </a:spcAft>
              <a:buNone/>
            </a:pPr>
            <a:endParaRPr sz="180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8"/>
          <p:cNvSpPr txBox="1"/>
          <p:nvPr>
            <p:ph type="title"/>
          </p:nvPr>
        </p:nvSpPr>
        <p:spPr>
          <a:xfrm>
            <a:off x="469516" y="317874"/>
            <a:ext cx="8596668" cy="1113762"/>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4000"/>
              <a:buFont typeface="Trebuchet MS" panose="020B0703020202090204"/>
              <a:buNone/>
            </a:pPr>
            <a:r>
              <a:rPr lang="en-US" sz="4000"/>
              <a:t> </a:t>
            </a: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DATASET</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84" name="Google Shape;184;p8"/>
          <p:cNvSpPr txBox="1"/>
          <p:nvPr>
            <p:ph type="body" idx="1"/>
          </p:nvPr>
        </p:nvSpPr>
        <p:spPr>
          <a:xfrm>
            <a:off x="833198" y="1234209"/>
            <a:ext cx="8596668" cy="3930073"/>
          </a:xfrm>
          <a:prstGeom prst="rect">
            <a:avLst/>
          </a:prstGeom>
          <a:noFill/>
          <a:ln>
            <a:noFill/>
          </a:ln>
        </p:spPr>
        <p:txBody>
          <a:bodyPr spcFirstLastPara="1" wrap="square" lIns="91425" tIns="45700" rIns="91425" bIns="45700" anchor="t" anchorCtr="0">
            <a:normAutofit fontScale="32500" lnSpcReduction="20000"/>
          </a:bodyPr>
          <a:lstStyle/>
          <a:p>
            <a:pPr marL="342900" lvl="0" indent="-342900" algn="just" rtl="0">
              <a:lnSpc>
                <a:spcPct val="170000"/>
              </a:lnSpc>
              <a:spcBef>
                <a:spcPts val="0"/>
              </a:spcBef>
              <a:spcAft>
                <a:spcPts val="0"/>
              </a:spcAft>
              <a:buSzPct val="80000"/>
              <a:buFont typeface="Noto Sans Symbols"/>
              <a:buChar char="⮚"/>
            </a:pPr>
            <a:r>
              <a:rPr lang="en-US" sz="6200">
                <a:latin typeface="Times New Roman" panose="02020503050405090304"/>
                <a:ea typeface="Times New Roman" panose="02020503050405090304"/>
                <a:cs typeface="Times New Roman" panose="02020503050405090304"/>
                <a:sym typeface="Times New Roman" panose="02020503050405090304"/>
              </a:rPr>
              <a:t> Retail Store Inventory Forecasting Dataset – Used for retail demand and inventory analysis. </a:t>
            </a:r>
            <a:endParaRPr sz="62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1000"/>
              </a:spcBef>
              <a:spcAft>
                <a:spcPts val="0"/>
              </a:spcAft>
              <a:buSzPct val="80000"/>
              <a:buFont typeface="Noto Sans Symbols"/>
              <a:buChar char="⮚"/>
            </a:pPr>
            <a:r>
              <a:rPr lang="en-US" sz="6200">
                <a:latin typeface="Times New Roman" panose="02020503050405090304"/>
                <a:ea typeface="Times New Roman" panose="02020503050405090304"/>
                <a:cs typeface="Times New Roman" panose="02020503050405090304"/>
                <a:sym typeface="Times New Roman" panose="02020503050405090304"/>
              </a:rPr>
              <a:t>Contains 73,100 daily retail records across 5 stores and 20 products.</a:t>
            </a:r>
            <a:endParaRPr sz="62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1000"/>
              </a:spcBef>
              <a:spcAft>
                <a:spcPts val="0"/>
              </a:spcAft>
              <a:buSzPct val="80000"/>
              <a:buFont typeface="Noto Sans Symbols"/>
              <a:buChar char="⮚"/>
            </a:pPr>
            <a:r>
              <a:rPr lang="en-US" sz="6200">
                <a:latin typeface="Times New Roman" panose="02020503050405090304"/>
                <a:ea typeface="Times New Roman" panose="02020503050405090304"/>
                <a:cs typeface="Times New Roman" panose="02020503050405090304"/>
                <a:sym typeface="Times New Roman" panose="02020503050405090304"/>
              </a:rPr>
              <a:t>Includes sales, inventory levels, orders, pricing, discounts, and promotions.</a:t>
            </a:r>
            <a:endParaRPr sz="62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1000"/>
              </a:spcBef>
              <a:spcAft>
                <a:spcPts val="0"/>
              </a:spcAft>
              <a:buSzPct val="80000"/>
              <a:buFont typeface="Noto Sans Symbols"/>
              <a:buChar char="⮚"/>
            </a:pPr>
            <a:r>
              <a:rPr lang="en-US" sz="6200">
                <a:latin typeface="Times New Roman" panose="02020503050405090304"/>
                <a:ea typeface="Times New Roman" panose="02020503050405090304"/>
                <a:cs typeface="Times New Roman" panose="02020503050405090304"/>
                <a:sym typeface="Times New Roman" panose="02020503050405090304"/>
              </a:rPr>
              <a:t>Also provides weather, competitor pricing, holidays, and seasonal information.</a:t>
            </a:r>
            <a:endParaRPr sz="6200">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1000"/>
              </a:spcBef>
              <a:spcAft>
                <a:spcPts val="0"/>
              </a:spcAft>
              <a:buSzPct val="80000"/>
              <a:buFont typeface="Noto Sans Symbols"/>
              <a:buChar char="⮚"/>
            </a:pPr>
            <a:r>
              <a:rPr lang="en-US" sz="6200">
                <a:latin typeface="Times New Roman" panose="02020503050405090304"/>
                <a:ea typeface="Times New Roman" panose="02020503050405090304"/>
                <a:cs typeface="Times New Roman" panose="02020503050405090304"/>
                <a:sym typeface="Times New Roman" panose="02020503050405090304"/>
              </a:rPr>
              <a:t>Used for demand forecasting and inventory decision optimization using the proposed ML + RL framework.</a:t>
            </a:r>
            <a:endParaRPr sz="6200">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sp>
        <p:nvSpPr>
          <p:cNvPr id="189" name="Google Shape;189;p9"/>
          <p:cNvSpPr txBox="1"/>
          <p:nvPr>
            <p:ph type="title"/>
          </p:nvPr>
        </p:nvSpPr>
        <p:spPr>
          <a:xfrm>
            <a:off x="677334" y="167149"/>
            <a:ext cx="8596668" cy="970646"/>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4000"/>
              <a:buFont typeface="Trebuchet MS" panose="020B0703020202090204"/>
              <a:buNone/>
            </a:pPr>
            <a:r>
              <a:rPr lang="en-US" sz="4000"/>
              <a:t> </a:t>
            </a:r>
            <a:r>
              <a:rPr lang="en-US" sz="4000" b="1">
                <a:solidFill>
                  <a:schemeClr val="dk1"/>
                </a:solidFill>
              </a:rPr>
              <a:t> </a:t>
            </a: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EXISTING SYSTEM </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90" name="Google Shape;190;p9"/>
          <p:cNvSpPr txBox="1"/>
          <p:nvPr>
            <p:ph type="body" idx="1"/>
          </p:nvPr>
        </p:nvSpPr>
        <p:spPr>
          <a:xfrm>
            <a:off x="677333" y="849064"/>
            <a:ext cx="8403039" cy="6264575"/>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SzPts val="1600"/>
              <a:buNone/>
            </a:pPr>
            <a:r>
              <a:rPr lang="en-US" sz="2000" b="1">
                <a:latin typeface="Times New Roman" panose="02020503050405090304"/>
                <a:ea typeface="Times New Roman" panose="02020503050405090304"/>
                <a:cs typeface="Times New Roman" panose="02020503050405090304"/>
                <a:sym typeface="Times New Roman" panose="02020503050405090304"/>
              </a:rPr>
              <a:t>Disadvantages:</a:t>
            </a:r>
            <a:endParaRPr sz="2000" b="1">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6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Traditional inventory methods may fail to accurately predict changing product demand.</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6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Forecasting and inventory decisions are handled separately, making the overall process less efficient.</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6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Static reorder rules may lead to overstocking or stockouts when demand changes unexpectedly.</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6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Existing methods may not effectively consider sales, pricing, discounts, promotions, weather, and seasonality together.</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70000"/>
              </a:lnSpc>
              <a:spcBef>
                <a:spcPts val="6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They provide limited adaptability because inventory decisions are not continuously optimized based on changing conditions.</a:t>
            </a:r>
            <a:endParaRPr>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sp>
        <p:nvSpPr>
          <p:cNvPr id="195" name="Google Shape;195;p10"/>
          <p:cNvSpPr txBox="1"/>
          <p:nvPr>
            <p:ph type="title"/>
          </p:nvPr>
        </p:nvSpPr>
        <p:spPr>
          <a:xfrm>
            <a:off x="1030625" y="100446"/>
            <a:ext cx="8596668" cy="95914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accent1"/>
              </a:buClr>
              <a:buSzPts val="4000"/>
              <a:buFont typeface="Trebuchet MS" panose="020B0703020202090204"/>
              <a:buNone/>
            </a:pPr>
            <a:r>
              <a:rPr lang="en-US" sz="4000"/>
              <a:t>               </a:t>
            </a: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PROPOSED SYSTEM</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196" name="Google Shape;196;p10"/>
          <p:cNvSpPr txBox="1"/>
          <p:nvPr>
            <p:ph type="body" idx="1"/>
          </p:nvPr>
        </p:nvSpPr>
        <p:spPr>
          <a:xfrm>
            <a:off x="729289" y="733686"/>
            <a:ext cx="8596668" cy="5930349"/>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SzPts val="1920"/>
              <a:buNone/>
            </a:pPr>
            <a:r>
              <a:rPr lang="en-US" sz="2400" b="1">
                <a:latin typeface="Times New Roman" panose="02020503050405090304"/>
                <a:ea typeface="Times New Roman" panose="02020503050405090304"/>
                <a:cs typeface="Times New Roman" panose="02020503050405090304"/>
                <a:sym typeface="Times New Roman" panose="02020503050405090304"/>
              </a:rPr>
              <a:t>Advantages:</a:t>
            </a:r>
            <a:endParaRPr sz="2400" b="1">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ML-based demand forecasting predicts future product demand using multiple retail factors.</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RL-based decision-making dynamically determines suitable inventory and reorder quantities.</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Integrates ML and RL to connect demand prediction directly with inventory decisions.</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Helps reduce stockouts and excess inventory by making data-driven replenishment decisions.</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1000"/>
              </a:spcBef>
              <a:spcAft>
                <a:spcPts val="0"/>
              </a:spcAft>
              <a:buSzPts val="1440"/>
              <a:buFont typeface="Noto Sans Symbols"/>
              <a:buChar char="⮚"/>
            </a:pPr>
            <a:r>
              <a:rPr lang="en-US">
                <a:latin typeface="Times New Roman" panose="02020503050405090304"/>
                <a:ea typeface="Times New Roman" panose="02020503050405090304"/>
                <a:cs typeface="Times New Roman" panose="02020503050405090304"/>
                <a:sym typeface="Times New Roman" panose="02020503050405090304"/>
              </a:rPr>
              <a:t> Provides a flexible and adaptive framework that can respond to changing demand and inventory conditions</a:t>
            </a:r>
            <a:endParaRPr>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555298" y="0"/>
            <a:ext cx="8596668" cy="10160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4000"/>
              <a:buFont typeface="Trebuchet MS" panose="020B0703020202090204"/>
              <a:buNone/>
            </a:pPr>
            <a:r>
              <a:rPr lang="en-US" sz="4000"/>
              <a:t> </a:t>
            </a:r>
            <a:r>
              <a:rPr lang="en-US" sz="2800" b="1">
                <a:solidFill>
                  <a:schemeClr val="dk1"/>
                </a:solidFill>
                <a:latin typeface="Times New Roman" panose="02020503050405090304"/>
                <a:ea typeface="Times New Roman" panose="02020503050405090304"/>
                <a:cs typeface="Times New Roman" panose="02020503050405090304"/>
                <a:sym typeface="Times New Roman" panose="02020503050405090304"/>
              </a:rPr>
              <a:t>REFERENCES</a:t>
            </a:r>
            <a:endParaRPr sz="28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
        <p:nvSpPr>
          <p:cNvPr id="202" name="Google Shape;202;p11"/>
          <p:cNvSpPr txBox="1"/>
          <p:nvPr>
            <p:ph type="body" idx="1"/>
          </p:nvPr>
        </p:nvSpPr>
        <p:spPr>
          <a:xfrm>
            <a:off x="690381" y="594188"/>
            <a:ext cx="8754957" cy="6191075"/>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SzPts val="1440"/>
              <a:buFont typeface="Trebuchet MS" panose="020B0703020202090204"/>
              <a:buAutoNum type="arabicPeriod"/>
            </a:pPr>
            <a:r>
              <a:rPr lang="en-US">
                <a:latin typeface="Times New Roman" panose="02020503050405090304"/>
                <a:ea typeface="Times New Roman" panose="02020503050405090304"/>
                <a:cs typeface="Times New Roman" panose="02020503050405090304"/>
                <a:sym typeface="Times New Roman" panose="02020503050405090304"/>
              </a:rPr>
              <a:t>Namazian, Z., Betts, J. M., &amp; Stuckey, P. J. (2025). Predict and Optimize: A Smart Inventory Management Model for Beauty Retail. Optimization Letters, Springer. Springer</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600"/>
              </a:spcBef>
              <a:spcAft>
                <a:spcPts val="0"/>
              </a:spcAft>
              <a:buSzPts val="1440"/>
              <a:buFont typeface="Trebuchet MS" panose="020B0703020202090204"/>
              <a:buAutoNum type="arabicPeriod"/>
            </a:pPr>
            <a:r>
              <a:rPr lang="en-US">
                <a:latin typeface="Times New Roman" panose="02020503050405090304"/>
                <a:ea typeface="Times New Roman" panose="02020503050405090304"/>
                <a:cs typeface="Times New Roman" panose="02020503050405090304"/>
                <a:sym typeface="Times New Roman" panose="02020503050405090304"/>
              </a:rPr>
              <a:t>Temizöz, T., et al. (2025). Deep Controlled Learning for Inventory Control. European Journal of Operational Research, 324(1), 104–117. ScienceDirect</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600"/>
              </a:spcBef>
              <a:spcAft>
                <a:spcPts val="0"/>
              </a:spcAft>
              <a:buSzPts val="1440"/>
              <a:buFont typeface="Trebuchet MS" panose="020B0703020202090204"/>
              <a:buAutoNum type="arabicPeriod"/>
            </a:pPr>
            <a:r>
              <a:rPr lang="en-US">
                <a:latin typeface="Times New Roman" panose="02020503050405090304"/>
                <a:ea typeface="Times New Roman" panose="02020503050405090304"/>
                <a:cs typeface="Times New Roman" panose="02020503050405090304"/>
                <a:sym typeface="Times New Roman" panose="02020503050405090304"/>
              </a:rPr>
              <a:t>Schett, G., et al. (2026). Integrated Demand Forecasting and Reinforcement Learning for Order Point Optimization in Inventory Planning. International Journal of Production Economics, 299, 110111. ScienceDirect</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600"/>
              </a:spcBef>
              <a:spcAft>
                <a:spcPts val="0"/>
              </a:spcAft>
              <a:buSzPts val="1440"/>
              <a:buFont typeface="Trebuchet MS" panose="020B0703020202090204"/>
              <a:buAutoNum type="arabicPeriod"/>
            </a:pPr>
            <a:r>
              <a:rPr lang="en-US">
                <a:latin typeface="Times New Roman" panose="02020503050405090304"/>
                <a:ea typeface="Times New Roman" panose="02020503050405090304"/>
                <a:cs typeface="Times New Roman" panose="02020503050405090304"/>
                <a:sym typeface="Times New Roman" panose="02020503050405090304"/>
              </a:rPr>
              <a:t>A Systematic Review of Machine Learning Approaches in Inventory Control Optimization. (2025). ScienceDirect. This study reviews ML and RL techniques for inventory control and optimization.</a:t>
            </a:r>
            <a:endParaRPr>
              <a:latin typeface="Times New Roman" panose="02020503050405090304"/>
              <a:ea typeface="Times New Roman" panose="02020503050405090304"/>
              <a:cs typeface="Times New Roman" panose="02020503050405090304"/>
              <a:sym typeface="Times New Roman" panose="02020503050405090304"/>
            </a:endParaRPr>
          </a:p>
          <a:p>
            <a:pPr marL="342900" lvl="0" indent="-342900" algn="just" rtl="0">
              <a:lnSpc>
                <a:spcPct val="150000"/>
              </a:lnSpc>
              <a:spcBef>
                <a:spcPts val="600"/>
              </a:spcBef>
              <a:spcAft>
                <a:spcPts val="0"/>
              </a:spcAft>
              <a:buSzPts val="1440"/>
              <a:buFont typeface="Trebuchet MS" panose="020B0703020202090204"/>
              <a:buAutoNum type="arabicPeriod"/>
            </a:pPr>
            <a:r>
              <a:rPr lang="en-US">
                <a:latin typeface="Times New Roman" panose="02020503050405090304"/>
                <a:ea typeface="Times New Roman" panose="02020503050405090304"/>
                <a:cs typeface="Times New Roman" panose="02020503050405090304"/>
                <a:sym typeface="Times New Roman" panose="02020503050405090304"/>
              </a:rPr>
              <a:t>Chauhan, A. (2024). Retail Store Inventory Forecasting Dataset. Kaggle. This dataset provides 73,100 retail records covering sales, inventory, pricing, promotions, weather, and seasonality. Kaggle</a:t>
            </a:r>
            <a:endParaRPr>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sp>
        <p:nvSpPr>
          <p:cNvPr id="207" name="Google Shape;207;p12"/>
          <p:cNvSpPr txBox="1"/>
          <p:nvPr>
            <p:ph type="title"/>
          </p:nvPr>
        </p:nvSpPr>
        <p:spPr>
          <a:xfrm>
            <a:off x="677334" y="2986481"/>
            <a:ext cx="8596668" cy="1459684"/>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dk1"/>
              </a:buClr>
              <a:buSzPts val="4400"/>
              <a:buFont typeface="Times New Roman" panose="02020503050405090304"/>
              <a:buNone/>
            </a:pPr>
            <a:r>
              <a:rPr lang="en-US" sz="4400" b="1">
                <a:solidFill>
                  <a:schemeClr val="dk1"/>
                </a:solidFill>
                <a:latin typeface="Times New Roman" panose="02020503050405090304"/>
                <a:ea typeface="Times New Roman" panose="02020503050405090304"/>
                <a:cs typeface="Times New Roman" panose="02020503050405090304"/>
                <a:sym typeface="Times New Roman" panose="02020503050405090304"/>
              </a:rPr>
              <a:t>THANK YOU!</a:t>
            </a:r>
            <a:endParaRPr sz="4400" b="1">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6319</Words>
  <Application>WPS Presentation</Application>
  <PresentationFormat/>
  <Paragraphs>148</Paragraphs>
  <Slides>12</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12</vt:i4>
      </vt:variant>
    </vt:vector>
  </HeadingPairs>
  <TitlesOfParts>
    <vt:vector size="34" baseType="lpstr">
      <vt:lpstr>Arial</vt:lpstr>
      <vt:lpstr>SimSun</vt:lpstr>
      <vt:lpstr>Wingdings</vt:lpstr>
      <vt:lpstr>Arial</vt:lpstr>
      <vt:lpstr>Trebuchet MS</vt:lpstr>
      <vt:lpstr>Noto Sans Symbols</vt:lpstr>
      <vt:lpstr>Thonburi</vt:lpstr>
      <vt:lpstr>Times New Roman</vt:lpstr>
      <vt:lpstr>Microsoft YaHei</vt:lpstr>
      <vt:lpstr>汉仪旗黑</vt:lpstr>
      <vt:lpstr>Arial Unicode MS</vt:lpstr>
      <vt:lpstr>Trebuchet MS</vt:lpstr>
      <vt:lpstr>Noto Sans Symbols</vt:lpstr>
      <vt:lpstr>Times New Roman</vt:lpstr>
      <vt:lpstr>宋体-简</vt:lpstr>
      <vt:lpstr>苹方-简</vt:lpstr>
      <vt:lpstr>Sama Gurmukhi Book</vt:lpstr>
      <vt:lpstr>Khmer Sangam MN</vt:lpstr>
      <vt:lpstr>Kavivanar</vt:lpstr>
      <vt:lpstr>Shobhika</vt:lpstr>
      <vt:lpstr>Silom</vt:lpstr>
      <vt:lpstr>Facet</vt:lpstr>
      <vt:lpstr>TITLE: INTEGRATED MACHINE LEARNING AND REINFORCEMENT LEARNING FRAMEWORK FOR RETAIL DEMAND FORECASTING AND INVENTORY DECISION OPTIMIZATION</vt:lpstr>
      <vt:lpstr>PowerPoint 演示文稿</vt:lpstr>
      <vt:lpstr>OUTLINE</vt:lpstr>
      <vt:lpstr> ABSTRACT</vt:lpstr>
      <vt:lpstr>PROBLEM STATEMENT </vt:lpstr>
      <vt:lpstr> LITERATURE SURVEY</vt:lpstr>
      <vt:lpstr> OBJECTIVE </vt:lpstr>
      <vt:lpstr> DATASET</vt:lpstr>
      <vt:lpstr>  EXISTING SYSTEM </vt:lpstr>
      <vt:lpstr>               PROPOSED SYSTEM</vt:lpstr>
      <vt:lpstr> 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INTEGRATED MACHINE LEARNING AND REINFORCEMENT LEARNING FRAMEWORK FOR RETAIL DEMAND FORECASTING AND INVENTORY DECISION OPTIMIZATION</dc:title>
  <dc:creator>Vyshnavi Vemireddy</dc:creator>
  <cp:lastModifiedBy>abdulazeez</cp:lastModifiedBy>
  <cp:revision>1</cp:revision>
  <dcterms:created xsi:type="dcterms:W3CDTF">2026-10-03T04:09:17Z</dcterms:created>
  <dcterms:modified xsi:type="dcterms:W3CDTF">2026-10-03T04:09:17Z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EA4D5B35CF52BDCEED7FC06AE1A866BA_43</vt:lpwstr>
  </property>
  <property fmtid="{D5CDD505-2E9C-101B-9397-08002B2CF9AE}" pid="3" name="KSOProductBuildVer">
    <vt:lpwstr>1033-12.1.23153.23153</vt:lpwstr>
  </property>
</Properties>
</file>