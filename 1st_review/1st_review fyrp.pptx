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62" r:id="rId5"/>
    <p:sldId id="270" r:id="rId6"/>
    <p:sldId id="260" r:id="rId7"/>
    <p:sldId id="263" r:id="rId8"/>
    <p:sldId id="265" r:id="rId9"/>
    <p:sldId id="271" r:id="rId10"/>
    <p:sldId id="272" r:id="rId11"/>
    <p:sldId id="273" r:id="rId12"/>
    <p:sldId id="274"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4" d="100"/>
          <a:sy n="74" d="100"/>
        </p:scale>
        <p:origin x="99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F3ED20-6542-4C82-8272-38EF31A52CF5}" type="datetimeFigureOut">
              <a:rPr lang="en-IN" smtClean="0"/>
              <a:t>26-09-2026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74BDC0-39BF-49B6-AB27-F933CAEB9E62}" type="slidenum">
              <a:rPr lang="en-IN" smtClean="0"/>
              <a:t>‹#›</a:t>
            </a:fld>
            <a:endParaRPr lang="en-IN"/>
          </a:p>
        </p:txBody>
      </p:sp>
    </p:spTree>
    <p:extLst>
      <p:ext uri="{BB962C8B-B14F-4D97-AF65-F5344CB8AC3E}">
        <p14:creationId xmlns:p14="http://schemas.microsoft.com/office/powerpoint/2010/main" val="1853837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B74BDC0-39BF-49B6-AB27-F933CAEB9E62}" type="slidenum">
              <a:rPr lang="en-IN" smtClean="0"/>
              <a:t>6</a:t>
            </a:fld>
            <a:endParaRPr lang="en-IN"/>
          </a:p>
        </p:txBody>
      </p:sp>
    </p:spTree>
    <p:extLst>
      <p:ext uri="{BB962C8B-B14F-4D97-AF65-F5344CB8AC3E}">
        <p14:creationId xmlns:p14="http://schemas.microsoft.com/office/powerpoint/2010/main" val="3737993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A4789D-9DE8-4422-8F43-887818A99251}"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2B2B2A-0A1A-4766-833E-C054FAEDB5CA}"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A4789D-9DE8-4422-8F43-887818A99251}"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2B2B2A-0A1A-4766-833E-C054FAEDB5CA}"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A4789D-9DE8-4422-8F43-887818A99251}"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2B2B2A-0A1A-4766-833E-C054FAEDB5CA}"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A4789D-9DE8-4422-8F43-887818A99251}" type="datetimeFigureOut">
              <a:rPr lang="en-IN" smtClean="0"/>
              <a:t>26-09-2026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2B2B2A-0A1A-4766-833E-C054FAEDB5CA}"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A4789D-9DE8-4422-8F43-887818A99251}" type="datetimeFigureOut">
              <a:rPr lang="en-IN" smtClean="0"/>
              <a:t>26-09-2026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22B2B2A-0A1A-4766-833E-C054FAEDB5CA}"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A4789D-9DE8-4422-8F43-887818A99251}" type="datetimeFigureOut">
              <a:rPr lang="en-IN" smtClean="0"/>
              <a:t>26-09-2026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22B2B2A-0A1A-4766-833E-C054FAEDB5CA}"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A4789D-9DE8-4422-8F43-887818A99251}" type="datetimeFigureOut">
              <a:rPr lang="en-IN" smtClean="0"/>
              <a:t>26-09-2026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22B2B2A-0A1A-4766-833E-C054FAEDB5CA}"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A4789D-9DE8-4422-8F43-887818A99251}" type="datetimeFigureOut">
              <a:rPr lang="en-IN" smtClean="0"/>
              <a:t>26-09-2026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2B2B2A-0A1A-4766-833E-C054FAEDB5CA}"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2B2B2A-0A1A-4766-833E-C054FAEDB5CA}" type="slidenum">
              <a:rPr lang="en-IN" smtClean="0"/>
              <a:t>‹#›</a:t>
            </a:fld>
            <a:endParaRPr lang="en-IN"/>
          </a:p>
        </p:txBody>
      </p:sp>
      <p:sp>
        <p:nvSpPr>
          <p:cNvPr id="5" name="Date Placeholder 4"/>
          <p:cNvSpPr>
            <a:spLocks noGrp="1"/>
          </p:cNvSpPr>
          <p:nvPr>
            <p:ph type="dt" sz="half" idx="10"/>
          </p:nvPr>
        </p:nvSpPr>
        <p:spPr/>
        <p:txBody>
          <a:bodyPr/>
          <a:lstStyle/>
          <a:p>
            <a:fld id="{0CA4789D-9DE8-4422-8F43-887818A99251}" type="datetimeFigureOut">
              <a:rPr lang="en-IN" smtClean="0"/>
              <a:t>26-09-2026</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A4789D-9DE8-4422-8F43-887818A99251}"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2B2B2A-0A1A-4766-833E-C054FAEDB5CA}"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A4789D-9DE8-4422-8F43-887818A99251}"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2B2B2A-0A1A-4766-833E-C054FAEDB5CA}"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9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90204"/>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A4789D-9DE8-4422-8F43-887818A99251}"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2B2B2A-0A1A-4766-833E-C054FAEDB5CA}"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A4789D-9DE8-4422-8F43-887818A99251}"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2B2B2A-0A1A-4766-833E-C054FAEDB5CA}"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9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90204"/>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A4789D-9DE8-4422-8F43-887818A99251}"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2B2B2A-0A1A-4766-833E-C054FAEDB5CA}"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A4789D-9DE8-4422-8F43-887818A99251}"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2B2B2A-0A1A-4766-833E-C054FAEDB5CA}"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A4789D-9DE8-4422-8F43-887818A99251}"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2B2B2A-0A1A-4766-833E-C054FAEDB5CA}"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CA4789D-9DE8-4422-8F43-887818A99251}" type="datetimeFigureOut">
              <a:rPr lang="en-IN" smtClean="0"/>
              <a:t>26-09-2026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22B2B2A-0A1A-4766-833E-C054FAEDB5CA}"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8349" y="1040235"/>
            <a:ext cx="7701094" cy="1770077"/>
          </a:xfrm>
        </p:spPr>
        <p:txBody>
          <a:bodyPr/>
          <a:lstStyle/>
          <a:p>
            <a:pPr algn="ctr"/>
            <a:r>
              <a:rPr lang="en-US" sz="2400" b="1" dirty="0">
                <a:solidFill>
                  <a:schemeClr val="tx1"/>
                </a:solidFill>
                <a:latin typeface="Times New Roman" panose="02020503050405090304" pitchFamily="18" charset="0"/>
                <a:cs typeface="Times New Roman" panose="02020503050405090304" pitchFamily="18" charset="0"/>
              </a:rPr>
              <a:t>TITLE: INTEGRATED MACHINE LEARNING AND REINFORCEMENT LEARNING FRAMEWORK FOR RETAIL DEMAND FORECASTING AND INVENTORY DECISION OPTIMIZATION</a:t>
            </a:r>
            <a:endParaRPr lang="en-IN" sz="2400" b="1" dirty="0">
              <a:solidFill>
                <a:schemeClr val="tx1"/>
              </a:solidFill>
              <a:latin typeface="Times New Roman" panose="02020503050405090304" pitchFamily="18" charset="0"/>
              <a:cs typeface="Times New Roman" panose="02020503050405090304" pitchFamily="18" charset="0"/>
            </a:endParaRPr>
          </a:p>
        </p:txBody>
      </p:sp>
      <p:sp>
        <p:nvSpPr>
          <p:cNvPr id="3" name="Subtitle 2"/>
          <p:cNvSpPr>
            <a:spLocks noGrp="1"/>
          </p:cNvSpPr>
          <p:nvPr>
            <p:ph type="subTitle" idx="1"/>
          </p:nvPr>
        </p:nvSpPr>
        <p:spPr>
          <a:xfrm>
            <a:off x="1403985" y="4684395"/>
            <a:ext cx="3664585" cy="1846580"/>
          </a:xfrm>
        </p:spPr>
        <p:txBody>
          <a:bodyPr>
            <a:noAutofit/>
          </a:bodyPr>
          <a:lstStyle/>
          <a:p>
            <a:pPr algn="l"/>
            <a:r>
              <a:rPr lang="en-US" dirty="0">
                <a:solidFill>
                  <a:schemeClr val="tx1"/>
                </a:solidFill>
                <a:latin typeface="Times New Roman" panose="02020503050405090304" pitchFamily="18" charset="0"/>
                <a:cs typeface="Times New Roman" panose="02020503050405090304" pitchFamily="18" charset="0"/>
              </a:rPr>
              <a:t>Under the guidance of,</a:t>
            </a:r>
          </a:p>
          <a:p>
            <a:pPr algn="l"/>
            <a:r>
              <a:rPr lang="en-US" dirty="0" err="1">
                <a:solidFill>
                  <a:schemeClr val="tx1"/>
                </a:solidFill>
                <a:latin typeface="Times New Roman" panose="02020503050405090304" pitchFamily="18" charset="0"/>
                <a:cs typeface="Times New Roman" panose="02020503050405090304" pitchFamily="18" charset="0"/>
              </a:rPr>
              <a:t>Mr.Ch.Poorna</a:t>
            </a:r>
            <a:r>
              <a:rPr lang="en-US" dirty="0">
                <a:solidFill>
                  <a:schemeClr val="tx1"/>
                </a:solidFill>
                <a:latin typeface="Times New Roman" panose="02020503050405090304" pitchFamily="18" charset="0"/>
                <a:cs typeface="Times New Roman" panose="02020503050405090304" pitchFamily="18" charset="0"/>
              </a:rPr>
              <a:t> Venkata Srinivasa </a:t>
            </a:r>
            <a:r>
              <a:rPr lang="en-US" dirty="0" err="1">
                <a:solidFill>
                  <a:schemeClr val="tx1"/>
                </a:solidFill>
                <a:latin typeface="Times New Roman" panose="02020503050405090304" pitchFamily="18" charset="0"/>
                <a:cs typeface="Times New Roman" panose="02020503050405090304" pitchFamily="18" charset="0"/>
              </a:rPr>
              <a:t>rao</a:t>
            </a:r>
            <a:endParaRPr lang="en-US" dirty="0">
              <a:solidFill>
                <a:schemeClr val="tx1"/>
              </a:solidFill>
              <a:latin typeface="Times New Roman" panose="02020503050405090304" pitchFamily="18" charset="0"/>
              <a:cs typeface="Times New Roman" panose="02020503050405090304" pitchFamily="18" charset="0"/>
            </a:endParaRPr>
          </a:p>
          <a:p>
            <a:pPr algn="l"/>
            <a:r>
              <a:rPr lang="en-US" dirty="0" err="1">
                <a:solidFill>
                  <a:schemeClr val="tx1"/>
                </a:solidFill>
                <a:latin typeface="Times New Roman" panose="02020503050405090304" pitchFamily="18" charset="0"/>
                <a:cs typeface="Times New Roman" panose="02020503050405090304" pitchFamily="18" charset="0"/>
              </a:rPr>
              <a:t>Sr.Assistant</a:t>
            </a:r>
            <a:r>
              <a:rPr lang="en-US" dirty="0">
                <a:solidFill>
                  <a:schemeClr val="tx1"/>
                </a:solidFill>
                <a:latin typeface="Times New Roman" panose="02020503050405090304" pitchFamily="18" charset="0"/>
                <a:cs typeface="Times New Roman" panose="02020503050405090304" pitchFamily="18" charset="0"/>
              </a:rPr>
              <a:t> professor</a:t>
            </a:r>
          </a:p>
          <a:p>
            <a:pPr algn="ctr">
              <a:lnSpc>
                <a:spcPct val="150000"/>
              </a:lnSpc>
            </a:pPr>
            <a:endParaRPr lang="en-US" sz="1000" b="1" dirty="0">
              <a:solidFill>
                <a:schemeClr val="tx1"/>
              </a:solidFill>
              <a:latin typeface="Times New Roman" panose="02020503050405090304" pitchFamily="18" charset="0"/>
              <a:cs typeface="Times New Roman" panose="02020503050405090304" pitchFamily="18" charset="0"/>
            </a:endParaRPr>
          </a:p>
        </p:txBody>
      </p:sp>
      <p:sp>
        <p:nvSpPr>
          <p:cNvPr id="7" name="TextBox 6"/>
          <p:cNvSpPr txBox="1"/>
          <p:nvPr/>
        </p:nvSpPr>
        <p:spPr>
          <a:xfrm>
            <a:off x="6112829" y="4581761"/>
            <a:ext cx="3145872" cy="1647825"/>
          </a:xfrm>
          <a:prstGeom prst="rect">
            <a:avLst/>
          </a:prstGeom>
          <a:noFill/>
        </p:spPr>
        <p:txBody>
          <a:bodyPr wrap="square" rtlCol="0">
            <a:spAutoFit/>
          </a:bodyPr>
          <a:lstStyle/>
          <a:p>
            <a:pPr algn="l">
              <a:lnSpc>
                <a:spcPct val="130000"/>
              </a:lnSpc>
            </a:pPr>
            <a:r>
              <a:rPr lang="en-US" sz="1600" dirty="0">
                <a:latin typeface="Times New Roman" panose="02020503050405090304" pitchFamily="18" charset="0"/>
                <a:cs typeface="Times New Roman" panose="02020503050405090304" pitchFamily="18" charset="0"/>
              </a:rPr>
              <a:t>Presented By : Batch 40</a:t>
            </a:r>
          </a:p>
          <a:p>
            <a:pPr algn="l">
              <a:lnSpc>
                <a:spcPct val="130000"/>
              </a:lnSpc>
            </a:pPr>
            <a:r>
              <a:rPr lang="en-US" sz="1600" dirty="0">
                <a:latin typeface="Times New Roman" panose="02020503050405090304" pitchFamily="18" charset="0"/>
                <a:cs typeface="Times New Roman" panose="02020503050405090304" pitchFamily="18" charset="0"/>
              </a:rPr>
              <a:t>23761A12A5 – Md </a:t>
            </a:r>
            <a:r>
              <a:rPr lang="en-US" sz="1600" dirty="0" err="1">
                <a:latin typeface="Times New Roman" panose="02020503050405090304" pitchFamily="18" charset="0"/>
                <a:cs typeface="Times New Roman" panose="02020503050405090304" pitchFamily="18" charset="0"/>
              </a:rPr>
              <a:t>Abdul</a:t>
            </a:r>
            <a:r>
              <a:rPr lang="en-US" sz="1600" dirty="0">
                <a:latin typeface="Times New Roman" panose="02020503050405090304" pitchFamily="18" charset="0"/>
                <a:cs typeface="Times New Roman" panose="02020503050405090304" pitchFamily="18" charset="0"/>
              </a:rPr>
              <a:t> </a:t>
            </a:r>
            <a:r>
              <a:rPr lang="en-US" sz="1600" dirty="0" err="1">
                <a:latin typeface="Times New Roman" panose="02020503050405090304" pitchFamily="18" charset="0"/>
                <a:cs typeface="Times New Roman" panose="02020503050405090304" pitchFamily="18" charset="0"/>
              </a:rPr>
              <a:t>azeez</a:t>
            </a:r>
            <a:endParaRPr lang="en-US" sz="1600" dirty="0">
              <a:latin typeface="Times New Roman" panose="02020503050405090304" pitchFamily="18" charset="0"/>
              <a:cs typeface="Times New Roman" panose="02020503050405090304" pitchFamily="18" charset="0"/>
            </a:endParaRPr>
          </a:p>
          <a:p>
            <a:pPr algn="l">
              <a:lnSpc>
                <a:spcPct val="130000"/>
              </a:lnSpc>
            </a:pPr>
            <a:r>
              <a:rPr lang="en-US" sz="1600" dirty="0">
                <a:latin typeface="Times New Roman" panose="02020503050405090304" pitchFamily="18" charset="0"/>
                <a:cs typeface="Times New Roman" panose="02020503050405090304" pitchFamily="18" charset="0"/>
              </a:rPr>
              <a:t>23761A12D0 – V </a:t>
            </a:r>
            <a:r>
              <a:rPr lang="en-US" sz="1600" dirty="0" err="1">
                <a:latin typeface="Times New Roman" panose="02020503050405090304" pitchFamily="18" charset="0"/>
                <a:cs typeface="Times New Roman" panose="02020503050405090304" pitchFamily="18" charset="0"/>
              </a:rPr>
              <a:t>Vyshnavi</a:t>
            </a:r>
            <a:endParaRPr lang="en-US" sz="1600" dirty="0">
              <a:latin typeface="Times New Roman" panose="02020503050405090304" pitchFamily="18" charset="0"/>
              <a:cs typeface="Times New Roman" panose="02020503050405090304" pitchFamily="18" charset="0"/>
            </a:endParaRPr>
          </a:p>
          <a:p>
            <a:pPr algn="l">
              <a:lnSpc>
                <a:spcPct val="130000"/>
              </a:lnSpc>
            </a:pPr>
            <a:r>
              <a:rPr lang="en-US" sz="1600" dirty="0">
                <a:latin typeface="Times New Roman" panose="02020503050405090304" pitchFamily="18" charset="0"/>
                <a:cs typeface="Times New Roman" panose="02020503050405090304" pitchFamily="18" charset="0"/>
              </a:rPr>
              <a:t>23761A12C5 – T </a:t>
            </a:r>
            <a:r>
              <a:rPr lang="en-US" sz="1600" dirty="0" err="1">
                <a:latin typeface="Times New Roman" panose="02020503050405090304" pitchFamily="18" charset="0"/>
                <a:cs typeface="Times New Roman" panose="02020503050405090304" pitchFamily="18" charset="0"/>
              </a:rPr>
              <a:t>Vardhan</a:t>
            </a:r>
            <a:r>
              <a:rPr lang="en-US" sz="1600" dirty="0">
                <a:latin typeface="Times New Roman" panose="02020503050405090304" pitchFamily="18" charset="0"/>
                <a:cs typeface="Times New Roman" panose="02020503050405090304" pitchFamily="18" charset="0"/>
              </a:rPr>
              <a:t> babu</a:t>
            </a:r>
          </a:p>
          <a:p>
            <a:pPr algn="l">
              <a:lnSpc>
                <a:spcPct val="130000"/>
              </a:lnSpc>
            </a:pP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433" y="712969"/>
            <a:ext cx="8596668" cy="999222"/>
          </a:xfrm>
        </p:spPr>
        <p:txBody>
          <a:bodyPr>
            <a:normAutofit/>
          </a:bodyPr>
          <a:lstStyle/>
          <a:p>
            <a:pPr algn="ctr"/>
            <a:r>
              <a:rPr lang="en-IN" sz="2800" b="1" dirty="0">
                <a:solidFill>
                  <a:schemeClr val="tx1"/>
                </a:solidFill>
                <a:latin typeface="Times New Roman" panose="02020503050405090304" pitchFamily="18" charset="0"/>
                <a:cs typeface="Times New Roman" panose="02020503050405090304" pitchFamily="18" charset="0"/>
              </a:rPr>
              <a:t>OUTLINE</a:t>
            </a:r>
          </a:p>
        </p:txBody>
      </p:sp>
      <p:sp>
        <p:nvSpPr>
          <p:cNvPr id="3" name="Content Placeholder 2"/>
          <p:cNvSpPr>
            <a:spLocks noGrp="1"/>
          </p:cNvSpPr>
          <p:nvPr>
            <p:ph idx="1"/>
          </p:nvPr>
        </p:nvSpPr>
        <p:spPr>
          <a:xfrm>
            <a:off x="1799292" y="1969655"/>
            <a:ext cx="3196492" cy="3504045"/>
          </a:xfrm>
        </p:spPr>
        <p:txBody>
          <a:bodyPr>
            <a:noAutofit/>
          </a:bodyPr>
          <a:lstStyle/>
          <a:p>
            <a:pPr algn="just">
              <a:lnSpc>
                <a:spcPct val="150000"/>
              </a:lnSpc>
              <a:buFont typeface="Arial" panose="020B0604020202020204" pitchFamily="34" charset="0"/>
              <a:buChar char="•"/>
            </a:pPr>
            <a:r>
              <a:rPr lang="en-IN" sz="2000" dirty="0">
                <a:latin typeface="Times New Roman" panose="02020503050405090304" pitchFamily="18" charset="0"/>
                <a:cs typeface="Times New Roman" panose="02020503050405090304" pitchFamily="18" charset="0"/>
              </a:rPr>
              <a:t> Abstract</a:t>
            </a:r>
          </a:p>
          <a:p>
            <a:pPr algn="just">
              <a:lnSpc>
                <a:spcPct val="150000"/>
              </a:lnSpc>
              <a:buFont typeface="Arial" panose="020B0604020202020204" pitchFamily="34" charset="0"/>
              <a:buChar char="•"/>
            </a:pPr>
            <a:r>
              <a:rPr lang="en-IN" sz="2000" dirty="0">
                <a:latin typeface="Times New Roman" panose="02020503050405090304" pitchFamily="18" charset="0"/>
                <a:cs typeface="Times New Roman" panose="02020503050405090304" pitchFamily="18" charset="0"/>
                <a:sym typeface="+mn-ea"/>
              </a:rPr>
              <a:t> Existing System</a:t>
            </a:r>
            <a:endParaRPr lang="en-IN" sz="2000" dirty="0">
              <a:latin typeface="Times New Roman" panose="02020503050405090304" pitchFamily="18" charset="0"/>
              <a:cs typeface="Times New Roman" panose="02020503050405090304" pitchFamily="18" charset="0"/>
            </a:endParaRPr>
          </a:p>
          <a:p>
            <a:pPr algn="just">
              <a:lnSpc>
                <a:spcPct val="150000"/>
              </a:lnSpc>
              <a:buFont typeface="Arial" panose="020B0604020202020204" pitchFamily="34" charset="0"/>
              <a:buChar char="•"/>
            </a:pPr>
            <a:r>
              <a:rPr lang="en-IN" sz="2000" dirty="0">
                <a:latin typeface="Times New Roman" panose="02020503050405090304" pitchFamily="18" charset="0"/>
                <a:cs typeface="Times New Roman" panose="02020503050405090304" pitchFamily="18" charset="0"/>
                <a:sym typeface="+mn-ea"/>
              </a:rPr>
              <a:t>Proposed System</a:t>
            </a:r>
          </a:p>
          <a:p>
            <a:pPr algn="just">
              <a:lnSpc>
                <a:spcPct val="150000"/>
              </a:lnSpc>
              <a:buFont typeface="Arial" panose="020B0604020202020204" pitchFamily="34" charset="0"/>
              <a:buChar char="•"/>
            </a:pPr>
            <a:r>
              <a:rPr lang="en-IN" sz="2000" dirty="0">
                <a:latin typeface="Times New Roman" panose="02020503050405090304" pitchFamily="18" charset="0"/>
                <a:cs typeface="Times New Roman" panose="02020503050405090304" pitchFamily="18" charset="0"/>
                <a:sym typeface="+mn-ea"/>
              </a:rPr>
              <a:t>Results</a:t>
            </a:r>
            <a:endParaRPr lang="en-US" sz="2000" dirty="0">
              <a:latin typeface="+mj-lt"/>
            </a:endParaRPr>
          </a:p>
        </p:txBody>
      </p:sp>
      <p:sp>
        <p:nvSpPr>
          <p:cNvPr id="4" name="Content Placeholder 2"/>
          <p:cNvSpPr txBox="1"/>
          <p:nvPr/>
        </p:nvSpPr>
        <p:spPr>
          <a:xfrm>
            <a:off x="5451922" y="1969655"/>
            <a:ext cx="3196492" cy="3420919"/>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algn="just">
              <a:lnSpc>
                <a:spcPct val="150000"/>
              </a:lnSpc>
              <a:buFont typeface="Arial" panose="020B0604020202020204" pitchFamily="34" charset="0"/>
              <a:buChar char="•"/>
            </a:pPr>
            <a:r>
              <a:rPr lang="en-IN" sz="2000" dirty="0">
                <a:latin typeface="Times New Roman" panose="02020503050405090304" pitchFamily="18" charset="0"/>
                <a:cs typeface="Times New Roman" panose="02020503050405090304" pitchFamily="18" charset="0"/>
                <a:sym typeface="+mn-ea"/>
              </a:rPr>
              <a:t>Literature Survey</a:t>
            </a:r>
            <a:endParaRPr lang="en-IN" sz="2000" dirty="0">
              <a:latin typeface="Times New Roman" panose="02020503050405090304" pitchFamily="18" charset="0"/>
              <a:cs typeface="Times New Roman" panose="02020503050405090304" pitchFamily="18" charset="0"/>
            </a:endParaRPr>
          </a:p>
          <a:p>
            <a:pPr algn="just">
              <a:lnSpc>
                <a:spcPct val="150000"/>
              </a:lnSpc>
              <a:buFont typeface="Arial" panose="020B0604020202020204" pitchFamily="34" charset="0"/>
              <a:buChar char="•"/>
            </a:pPr>
            <a:r>
              <a:rPr lang="en-US" altLang="en-IN" sz="2000" dirty="0">
                <a:latin typeface="Times New Roman" panose="02020503050405090304" pitchFamily="18" charset="0"/>
                <a:cs typeface="Times New Roman" panose="02020503050405090304" pitchFamily="18" charset="0"/>
              </a:rPr>
              <a:t>System Design </a:t>
            </a:r>
          </a:p>
          <a:p>
            <a:pPr algn="just">
              <a:lnSpc>
                <a:spcPct val="150000"/>
              </a:lnSpc>
              <a:buFont typeface="Arial" panose="020B0604020202020204" pitchFamily="34" charset="0"/>
              <a:buChar char="•"/>
            </a:pPr>
            <a:r>
              <a:rPr lang="en-US" altLang="en-IN" sz="2000" dirty="0">
                <a:latin typeface="Times New Roman" panose="02020503050405090304" pitchFamily="18" charset="0"/>
                <a:cs typeface="Times New Roman" panose="02020503050405090304" pitchFamily="18" charset="0"/>
                <a:sym typeface="+mn-ea"/>
              </a:rPr>
              <a:t>Implementation</a:t>
            </a:r>
            <a:endParaRPr lang="en-IN" sz="2000" dirty="0">
              <a:latin typeface="Times New Roman" panose="02020503050405090304" pitchFamily="18" charset="0"/>
              <a:cs typeface="Times New Roman" panose="02020503050405090304" pitchFamily="18" charset="0"/>
            </a:endParaRPr>
          </a:p>
          <a:p>
            <a:pPr marL="0" indent="0" algn="just">
              <a:lnSpc>
                <a:spcPct val="150000"/>
              </a:lnSpc>
              <a:buFont typeface="Wingdings 3" panose="05040102010807070707" charset="2"/>
              <a:buNone/>
            </a:pPr>
            <a:endParaRPr lang="en-US" altLang="en-IN" sz="20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36082"/>
            <a:ext cx="8596668" cy="1113763"/>
          </a:xfrm>
        </p:spPr>
        <p:txBody>
          <a:bodyPr>
            <a:normAutofit/>
          </a:bodyPr>
          <a:lstStyle/>
          <a:p>
            <a:pPr algn="ctr"/>
            <a:r>
              <a:rPr lang="en-IN" sz="4000" dirty="0"/>
              <a:t> </a:t>
            </a:r>
            <a:r>
              <a:rPr lang="en-IN" sz="2800" b="1" dirty="0">
                <a:solidFill>
                  <a:schemeClr val="tx1"/>
                </a:solidFill>
                <a:latin typeface="Times New Roman" panose="02020503050405090304" pitchFamily="18" charset="0"/>
                <a:cs typeface="Times New Roman" panose="02020503050405090304" pitchFamily="18" charset="0"/>
              </a:rPr>
              <a:t>ABSTRACT</a:t>
            </a:r>
          </a:p>
        </p:txBody>
      </p:sp>
      <p:sp>
        <p:nvSpPr>
          <p:cNvPr id="3" name="Content Placeholder 2"/>
          <p:cNvSpPr>
            <a:spLocks noGrp="1"/>
          </p:cNvSpPr>
          <p:nvPr>
            <p:ph idx="1"/>
          </p:nvPr>
        </p:nvSpPr>
        <p:spPr>
          <a:xfrm>
            <a:off x="677334" y="1309254"/>
            <a:ext cx="8596668" cy="5205845"/>
          </a:xfrm>
        </p:spPr>
        <p:txBody>
          <a:bodyPr>
            <a:normAutofit fontScale="92500" lnSpcReduction="10000"/>
          </a:bodyPr>
          <a:lstStyle/>
          <a:p>
            <a:pPr marL="457200" lvl="1" indent="0" algn="just">
              <a:lnSpc>
                <a:spcPct val="150000"/>
              </a:lnSpc>
              <a:buNone/>
            </a:pPr>
            <a:r>
              <a:rPr lang="en-US" sz="2100" dirty="0">
                <a:latin typeface="Times New Roman" panose="02020503050405090304" pitchFamily="18" charset="0"/>
                <a:cs typeface="Times New Roman" panose="02020503050405090304" pitchFamily="18" charset="0"/>
              </a:rPr>
              <a:t>Retail businesses often face challenges in accurately forecasting product demand and maintaining optimal inventory levels, leading to stockouts or excess inventory. This project proposes an Integrated Machine Learning and Reinforcement Learning Framework for Retail Demand Forecasting and Inventory Decision Optimization. The system uses historical retail data to predict future demand using Machine Learning techniques and applies Reinforcement Learning to determine suitable inventory and replenishment decisions. The framework considers factors such as sales, inventory levels, pricing, discounts, promotions, weather conditions, and seasonality. By integrating demand prediction with intelligent inventory decision-making, the proposed system aims to reduce stockouts and excess inventory while improving overall inventory efficiency and supporting data-driven retail management</a:t>
            </a:r>
            <a:r>
              <a:rPr lang="en-US" sz="2000" dirty="0">
                <a:latin typeface="Times New Roman" panose="02020503050405090304" pitchFamily="18" charset="0"/>
                <a:cs typeface="Times New Roman" panose="02020503050405090304" pitchFamily="18" charset="0"/>
              </a:rPr>
              <a:t>.</a:t>
            </a:r>
            <a:endParaRPr lang="en-IN" sz="20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34415" y="675322"/>
            <a:ext cx="8260080" cy="55073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507" y="349827"/>
            <a:ext cx="8596668" cy="1320800"/>
          </a:xfrm>
        </p:spPr>
        <p:txBody>
          <a:bodyPr/>
          <a:lstStyle/>
          <a:p>
            <a:pPr algn="ctr"/>
            <a:r>
              <a:rPr lang="en-US" sz="3200" b="1" dirty="0">
                <a:solidFill>
                  <a:schemeClr val="tx1"/>
                </a:solidFill>
                <a:latin typeface="Times New Roman" panose="02020603050405020304" pitchFamily="18" charset="0"/>
                <a:cs typeface="Times New Roman" panose="02020603050405020304" pitchFamily="18" charset="0"/>
              </a:rPr>
              <a:t>IMPLEMENTATION</a:t>
            </a:r>
          </a:p>
        </p:txBody>
      </p:sp>
      <p:sp>
        <p:nvSpPr>
          <p:cNvPr id="3" name="Content Placeholder 2"/>
          <p:cNvSpPr>
            <a:spLocks noGrp="1"/>
          </p:cNvSpPr>
          <p:nvPr>
            <p:ph idx="1"/>
          </p:nvPr>
        </p:nvSpPr>
        <p:spPr>
          <a:xfrm>
            <a:off x="811954" y="1010227"/>
            <a:ext cx="8596668" cy="3880773"/>
          </a:xfrm>
        </p:spPr>
        <p:txBody>
          <a:bodyPr>
            <a:noAutofit/>
          </a:bodyPr>
          <a:lstStyle/>
          <a:p>
            <a:pPr algn="just">
              <a:lnSpc>
                <a:spcPct val="150000"/>
              </a:lnSpc>
            </a:pPr>
            <a:r>
              <a:rPr lang="en-US" altLang="en-US" sz="2000" dirty="0">
                <a:latin typeface="Times New Roman" panose="02020503050405090304" pitchFamily="18" charset="0"/>
                <a:cs typeface="Times New Roman" panose="02020503050405090304" pitchFamily="18" charset="0"/>
              </a:rPr>
              <a:t>Dataset Preprocessing: Collect and clean the retail dataset by handling missing values and preparing the required data for model training.</a:t>
            </a:r>
          </a:p>
          <a:p>
            <a:pPr algn="just">
              <a:lnSpc>
                <a:spcPct val="150000"/>
              </a:lnSpc>
            </a:pPr>
            <a:r>
              <a:rPr lang="en-US" altLang="en-US" sz="2000" dirty="0">
                <a:latin typeface="Times New Roman" panose="02020503050405090304" pitchFamily="18" charset="0"/>
                <a:cs typeface="Times New Roman" panose="02020503050405090304" pitchFamily="18" charset="0"/>
              </a:rPr>
              <a:t>Feature Engineering: Extract relevant sales, inventory, pricing, and promotion features to improve demand prediction.</a:t>
            </a:r>
          </a:p>
          <a:p>
            <a:pPr algn="just">
              <a:lnSpc>
                <a:spcPct val="150000"/>
              </a:lnSpc>
            </a:pPr>
            <a:r>
              <a:rPr lang="en-US" altLang="en-US" sz="2000" dirty="0">
                <a:latin typeface="Times New Roman" panose="02020503050405090304" pitchFamily="18" charset="0"/>
                <a:cs typeface="Times New Roman" panose="02020503050405090304" pitchFamily="18" charset="0"/>
              </a:rPr>
              <a:t>Demand Forecasting: Train the </a:t>
            </a:r>
            <a:r>
              <a:rPr lang="en-US" altLang="en-US" sz="2000" dirty="0" err="1">
                <a:latin typeface="Times New Roman" panose="02020503050405090304" pitchFamily="18" charset="0"/>
                <a:cs typeface="Times New Roman" panose="02020503050405090304" pitchFamily="18" charset="0"/>
              </a:rPr>
              <a:t>XGBoost</a:t>
            </a:r>
            <a:r>
              <a:rPr lang="en-US" altLang="en-US" sz="2000" dirty="0">
                <a:latin typeface="Times New Roman" panose="02020503050405090304" pitchFamily="18" charset="0"/>
                <a:cs typeface="Times New Roman" panose="02020503050405090304" pitchFamily="18" charset="0"/>
              </a:rPr>
              <a:t> model using historical retail data to predict future product demand.</a:t>
            </a:r>
          </a:p>
          <a:p>
            <a:pPr algn="just">
              <a:lnSpc>
                <a:spcPct val="150000"/>
              </a:lnSpc>
            </a:pPr>
            <a:r>
              <a:rPr lang="en-US" altLang="en-US" sz="2000" dirty="0">
                <a:latin typeface="Times New Roman" panose="02020503050405090304" pitchFamily="18" charset="0"/>
                <a:cs typeface="Times New Roman" panose="02020503050405090304" pitchFamily="18" charset="0"/>
              </a:rPr>
              <a:t>Inventory Optimization: Apply Q-Learning to analyze predicted demand and current inventory for suitable inventory actions.</a:t>
            </a:r>
          </a:p>
          <a:p>
            <a:pPr algn="just">
              <a:lnSpc>
                <a:spcPct val="150000"/>
              </a:lnSpc>
            </a:pPr>
            <a:r>
              <a:rPr lang="en-US" altLang="en-US" sz="2000" dirty="0">
                <a:latin typeface="Times New Roman" panose="02020503050405090304" pitchFamily="18" charset="0"/>
                <a:cs typeface="Times New Roman" panose="02020503050405090304" pitchFamily="18" charset="0"/>
              </a:rPr>
              <a:t>Model Integration: Integrate the </a:t>
            </a:r>
            <a:r>
              <a:rPr lang="en-US" altLang="en-US" sz="2000" dirty="0" err="1">
                <a:latin typeface="Times New Roman" panose="02020503050405090304" pitchFamily="18" charset="0"/>
                <a:cs typeface="Times New Roman" panose="02020503050405090304" pitchFamily="18" charset="0"/>
              </a:rPr>
              <a:t>XGBoost</a:t>
            </a:r>
            <a:r>
              <a:rPr lang="en-US" altLang="en-US" sz="2000" dirty="0">
                <a:latin typeface="Times New Roman" panose="02020503050405090304" pitchFamily="18" charset="0"/>
                <a:cs typeface="Times New Roman" panose="02020503050405090304" pitchFamily="18" charset="0"/>
              </a:rPr>
              <a:t> and Q-Learning models to generate intelligent inventory and replenishment recommendations.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11061"/>
            <a:ext cx="8596668" cy="1006677"/>
          </a:xfrm>
        </p:spPr>
        <p:txBody>
          <a:bodyPr>
            <a:normAutofit/>
          </a:bodyPr>
          <a:lstStyle/>
          <a:p>
            <a:pPr algn="ctr"/>
            <a:r>
              <a:rPr lang="en-IN" sz="2800" dirty="0">
                <a:latin typeface="Times New Roman" panose="02020503050405090304" pitchFamily="18" charset="0"/>
                <a:cs typeface="Times New Roman" panose="02020503050405090304" pitchFamily="18" charset="0"/>
              </a:rPr>
              <a:t> </a:t>
            </a:r>
            <a:r>
              <a:rPr lang="en-IN" sz="2800" b="1" dirty="0">
                <a:solidFill>
                  <a:schemeClr val="tx1"/>
                </a:solidFill>
                <a:latin typeface="Times New Roman" panose="02020503050405090304" pitchFamily="18" charset="0"/>
                <a:cs typeface="Times New Roman" panose="02020503050405090304" pitchFamily="18" charset="0"/>
              </a:rPr>
              <a:t>LITERATURE SURVEY</a:t>
            </a:r>
          </a:p>
        </p:txBody>
      </p:sp>
      <p:graphicFrame>
        <p:nvGraphicFramePr>
          <p:cNvPr id="4" name="Content Placeholder 3"/>
          <p:cNvGraphicFramePr>
            <a:graphicFrameLocks noGrp="1"/>
          </p:cNvGraphicFramePr>
          <p:nvPr>
            <p:ph idx="1"/>
          </p:nvPr>
        </p:nvGraphicFramePr>
        <p:xfrm>
          <a:off x="363682" y="1050269"/>
          <a:ext cx="9272533" cy="5388963"/>
        </p:xfrm>
        <a:graphic>
          <a:graphicData uri="http://schemas.openxmlformats.org/drawingml/2006/table">
            <a:tbl>
              <a:tblPr firstRow="1" bandRow="1">
                <a:tableStyleId>{5C22544A-7EE6-4342-B048-85BDC9FD1C3A}</a:tableStyleId>
              </a:tblPr>
              <a:tblGrid>
                <a:gridCol w="1978175">
                  <a:extLst>
                    <a:ext uri="{9D8B030D-6E8A-4147-A177-3AD203B41FA5}">
                      <a16:colId xmlns:a16="http://schemas.microsoft.com/office/drawing/2014/main" val="20000"/>
                    </a:ext>
                  </a:extLst>
                </a:gridCol>
                <a:gridCol w="889716">
                  <a:extLst>
                    <a:ext uri="{9D8B030D-6E8A-4147-A177-3AD203B41FA5}">
                      <a16:colId xmlns:a16="http://schemas.microsoft.com/office/drawing/2014/main" val="20001"/>
                    </a:ext>
                  </a:extLst>
                </a:gridCol>
                <a:gridCol w="1760196">
                  <a:extLst>
                    <a:ext uri="{9D8B030D-6E8A-4147-A177-3AD203B41FA5}">
                      <a16:colId xmlns:a16="http://schemas.microsoft.com/office/drawing/2014/main" val="20002"/>
                    </a:ext>
                  </a:extLst>
                </a:gridCol>
                <a:gridCol w="1617576">
                  <a:extLst>
                    <a:ext uri="{9D8B030D-6E8A-4147-A177-3AD203B41FA5}">
                      <a16:colId xmlns:a16="http://schemas.microsoft.com/office/drawing/2014/main" val="20003"/>
                    </a:ext>
                  </a:extLst>
                </a:gridCol>
                <a:gridCol w="3026870">
                  <a:extLst>
                    <a:ext uri="{9D8B030D-6E8A-4147-A177-3AD203B41FA5}">
                      <a16:colId xmlns:a16="http://schemas.microsoft.com/office/drawing/2014/main" val="20004"/>
                    </a:ext>
                  </a:extLst>
                </a:gridCol>
              </a:tblGrid>
              <a:tr h="861515">
                <a:tc>
                  <a: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lang="en-IN" b="1" dirty="0"/>
                    </a:p>
                    <a:p>
                      <a:pPr marL="0" marR="0" lvl="0" indent="0" algn="ctr" defTabSz="457200" rtl="0" eaLnBrk="1" fontAlgn="auto" latinLnBrk="0" hangingPunct="1">
                        <a:lnSpc>
                          <a:spcPct val="100000"/>
                        </a:lnSpc>
                        <a:spcBef>
                          <a:spcPts val="0"/>
                        </a:spcBef>
                        <a:spcAft>
                          <a:spcPts val="0"/>
                        </a:spcAft>
                        <a:buClrTx/>
                        <a:buSzTx/>
                        <a:buFontTx/>
                        <a:buNone/>
                        <a:defRPr/>
                      </a:pPr>
                      <a:r>
                        <a:rPr lang="en-IN" b="1" dirty="0"/>
                        <a:t>Project Title</a:t>
                      </a:r>
                      <a:endParaRPr lang="en-IN" dirty="0"/>
                    </a:p>
                    <a:p>
                      <a:pPr>
                        <a:buNone/>
                      </a:pPr>
                      <a:endParaRPr lang="en-IN" dirty="0"/>
                    </a:p>
                  </a:txBody>
                  <a:tcPr anchor="ctr"/>
                </a:tc>
                <a:tc>
                  <a:txBody>
                    <a:bodyPr/>
                    <a:lstStyle/>
                    <a:p>
                      <a:pPr algn="ctr"/>
                      <a:endParaRPr lang="en-IN" dirty="0"/>
                    </a:p>
                    <a:p>
                      <a:pPr algn="ctr"/>
                      <a:r>
                        <a:rPr lang="en-IN" dirty="0"/>
                        <a:t>Year</a:t>
                      </a:r>
                      <a:endParaRPr lang="en-US" dirty="0"/>
                    </a:p>
                  </a:txBody>
                  <a:tcPr/>
                </a:tc>
                <a:tc>
                  <a:txBody>
                    <a:bodyPr/>
                    <a:lstStyle/>
                    <a:p>
                      <a:pPr algn="ctr"/>
                      <a:endParaRPr lang="en-IN" dirty="0"/>
                    </a:p>
                    <a:p>
                      <a:pPr algn="ctr"/>
                      <a:r>
                        <a:rPr lang="en-IN" dirty="0"/>
                        <a:t>Author(s)</a:t>
                      </a:r>
                    </a:p>
                  </a:txBody>
                  <a:tcPr/>
                </a:tc>
                <a:tc>
                  <a:txBody>
                    <a:bodyPr/>
                    <a:lstStyle/>
                    <a:p>
                      <a:pPr algn="l">
                        <a:lnSpc>
                          <a:spcPct val="100000"/>
                        </a:lnSpc>
                        <a:spcBef>
                          <a:spcPts val="1200"/>
                        </a:spcBef>
                        <a:spcAft>
                          <a:spcPts val="1200"/>
                        </a:spcAft>
                      </a:pPr>
                      <a:r>
                        <a:rPr lang="en-IN" u="none" dirty="0"/>
                        <a:t>Methods / Models Used</a:t>
                      </a:r>
                    </a:p>
                  </a:txBody>
                  <a:tcPr/>
                </a:tc>
                <a:tc>
                  <a:txBody>
                    <a:bodyPr/>
                    <a:lstStyle/>
                    <a:p>
                      <a:pPr algn="just"/>
                      <a:r>
                        <a:rPr lang="en-US" altLang="en-IN" dirty="0"/>
                        <a:t>      key</a:t>
                      </a:r>
                      <a:endParaRPr lang="en-IN" dirty="0"/>
                    </a:p>
                    <a:p>
                      <a:pPr algn="just"/>
                      <a:r>
                        <a:rPr lang="en-IN" dirty="0"/>
                        <a:t> Contribution</a:t>
                      </a:r>
                    </a:p>
                  </a:txBody>
                  <a:tcPr/>
                </a:tc>
                <a:extLst>
                  <a:ext uri="{0D108BD9-81ED-4DB2-BD59-A6C34878D82A}">
                    <a16:rowId xmlns:a16="http://schemas.microsoft.com/office/drawing/2014/main" val="10000"/>
                  </a:ext>
                </a:extLst>
              </a:tr>
              <a:tr h="1493292">
                <a:tc>
                  <a:txBody>
                    <a:bodyPr/>
                    <a:lstStyle/>
                    <a:p>
                      <a:pPr algn="l"/>
                      <a:r>
                        <a:rPr lang="en-US" sz="1400" dirty="0" err="1">
                          <a:latin typeface="Times New Roman" panose="02020503050405090304" pitchFamily="18" charset="0"/>
                          <a:cs typeface="Times New Roman" panose="02020503050405090304" pitchFamily="18" charset="0"/>
                        </a:rPr>
                        <a:t>Neuroevolution</a:t>
                      </a:r>
                      <a:r>
                        <a:rPr lang="en-US" sz="1400" dirty="0">
                          <a:latin typeface="Times New Roman" panose="02020503050405090304" pitchFamily="18" charset="0"/>
                          <a:cs typeface="Times New Roman" panose="02020503050405090304" pitchFamily="18" charset="0"/>
                        </a:rPr>
                        <a:t> Reinforcement Learning for Multi-Echelon Inventory Optimization with Delivery Options and Uncertain Discount</a:t>
                      </a:r>
                      <a:endParaRPr lang="en-US" altLang="en-US" sz="1400" dirty="0">
                        <a:latin typeface="Times New Roman" panose="02020503050405090304" pitchFamily="18" charset="0"/>
                        <a:cs typeface="Times New Roman" panose="02020503050405090304" pitchFamily="18" charset="0"/>
                      </a:endParaRPr>
                    </a:p>
                  </a:txBody>
                  <a:tcPr/>
                </a:tc>
                <a:tc>
                  <a:txBody>
                    <a:bodyPr/>
                    <a:lstStyle/>
                    <a:p>
                      <a:endParaRPr lang="en-IN" dirty="0">
                        <a:latin typeface="Times New Roman" panose="02020503050405090304" pitchFamily="18" charset="0"/>
                        <a:cs typeface="Times New Roman" panose="02020503050405090304" pitchFamily="18" charset="0"/>
                      </a:endParaRPr>
                    </a:p>
                    <a:p>
                      <a:endParaRPr lang="en-IN" dirty="0">
                        <a:latin typeface="Times New Roman" panose="02020503050405090304" pitchFamily="18" charset="0"/>
                        <a:cs typeface="Times New Roman" panose="02020503050405090304" pitchFamily="18" charset="0"/>
                      </a:endParaRPr>
                    </a:p>
                    <a:p>
                      <a:r>
                        <a:rPr lang="en-IN" dirty="0">
                          <a:latin typeface="Times New Roman" panose="02020503050405090304" pitchFamily="18" charset="0"/>
                          <a:cs typeface="Times New Roman" panose="02020503050405090304" pitchFamily="18" charset="0"/>
                        </a:rPr>
                        <a:t>  202</a:t>
                      </a:r>
                      <a:r>
                        <a:rPr lang="en-US" dirty="0">
                          <a:latin typeface="Times New Roman" panose="02020503050405090304" pitchFamily="18" charset="0"/>
                          <a:cs typeface="Times New Roman" panose="02020503050405090304" pitchFamily="18" charset="0"/>
                        </a:rPr>
                        <a:t>4</a:t>
                      </a:r>
                      <a:endParaRPr lang="en-US" altLang="en-IN" dirty="0">
                        <a:latin typeface="Times New Roman" panose="02020503050405090304" pitchFamily="18" charset="0"/>
                        <a:cs typeface="Times New Roman" panose="02020503050405090304" pitchFamily="18" charset="0"/>
                      </a:endParaRPr>
                    </a:p>
                  </a:txBody>
                  <a:tcPr/>
                </a:tc>
                <a:tc>
                  <a:txBody>
                    <a:bodyPr/>
                    <a:lstStyle/>
                    <a:p>
                      <a:endParaRPr lang="en-IN" sz="1400" dirty="0">
                        <a:latin typeface="Times New Roman" panose="02020503050405090304" pitchFamily="18" charset="0"/>
                        <a:cs typeface="Times New Roman" panose="02020503050405090304" pitchFamily="18" charset="0"/>
                      </a:endParaRPr>
                    </a:p>
                    <a:p>
                      <a:endParaRPr lang="en-IN" sz="1400" dirty="0">
                        <a:latin typeface="Times New Roman" panose="02020503050405090304" pitchFamily="18" charset="0"/>
                        <a:cs typeface="Times New Roman" panose="02020503050405090304" pitchFamily="18" charset="0"/>
                      </a:endParaRPr>
                    </a:p>
                    <a:p>
                      <a:r>
                        <a:rPr lang="en-US" sz="1400" dirty="0">
                          <a:latin typeface="Times New Roman" panose="02020503050405090304" pitchFamily="18" charset="0"/>
                          <a:cs typeface="Times New Roman" panose="02020503050405090304" pitchFamily="18" charset="0"/>
                        </a:rPr>
                        <a:t>Zakka </a:t>
                      </a:r>
                      <a:r>
                        <a:rPr lang="en-US" sz="1400" dirty="0" err="1">
                          <a:latin typeface="Times New Roman" panose="02020503050405090304" pitchFamily="18" charset="0"/>
                          <a:cs typeface="Times New Roman" panose="02020503050405090304" pitchFamily="18" charset="0"/>
                        </a:rPr>
                        <a:t>Ugih</a:t>
                      </a:r>
                      <a:r>
                        <a:rPr lang="en-US" sz="1400" dirty="0">
                          <a:latin typeface="Times New Roman" panose="02020503050405090304" pitchFamily="18" charset="0"/>
                          <a:cs typeface="Times New Roman" panose="02020503050405090304" pitchFamily="18" charset="0"/>
                        </a:rPr>
                        <a:t> </a:t>
                      </a:r>
                      <a:r>
                        <a:rPr lang="en-US" sz="1400" dirty="0" err="1">
                          <a:latin typeface="Times New Roman" panose="02020503050405090304" pitchFamily="18" charset="0"/>
                          <a:cs typeface="Times New Roman" panose="02020503050405090304" pitchFamily="18" charset="0"/>
                        </a:rPr>
                        <a:t>Rizqi</a:t>
                      </a:r>
                      <a:r>
                        <a:rPr lang="en-US" sz="1400" dirty="0">
                          <a:latin typeface="Times New Roman" panose="02020503050405090304" pitchFamily="18" charset="0"/>
                          <a:cs typeface="Times New Roman" panose="02020503050405090304" pitchFamily="18" charset="0"/>
                        </a:rPr>
                        <a:t>, Shuo-Yan Chou</a:t>
                      </a:r>
                      <a:endParaRPr lang="en-US" altLang="en-US" sz="1400" dirty="0">
                        <a:latin typeface="Times New Roman" panose="02020503050405090304" pitchFamily="18" charset="0"/>
                        <a:cs typeface="Times New Roman" panose="02020503050405090304" pitchFamily="18" charset="0"/>
                      </a:endParaRPr>
                    </a:p>
                  </a:txBody>
                  <a:tcPr/>
                </a:tc>
                <a:tc>
                  <a:txBody>
                    <a:bodyPr/>
                    <a:lstStyle/>
                    <a:p>
                      <a:r>
                        <a:rPr lang="en-US" sz="1400" dirty="0" err="1">
                          <a:latin typeface="Times New Roman" panose="02020503050405090304" pitchFamily="18" charset="0"/>
                          <a:cs typeface="Times New Roman" panose="02020503050405090304" pitchFamily="18" charset="0"/>
                        </a:rPr>
                        <a:t>Neuroevolution</a:t>
                      </a:r>
                      <a:r>
                        <a:rPr lang="en-US" sz="1400" dirty="0">
                          <a:latin typeface="Times New Roman" panose="02020503050405090304" pitchFamily="18" charset="0"/>
                          <a:cs typeface="Times New Roman" panose="02020503050405090304" pitchFamily="18" charset="0"/>
                        </a:rPr>
                        <a:t> Reinforcement Learning (NERL), Artificial Neural Network (ANN), Evolutionary Algorithms</a:t>
                      </a:r>
                      <a:endParaRPr lang="en-US" altLang="en-US" sz="1400" dirty="0">
                        <a:latin typeface="Times New Roman" panose="02020503050405090304" pitchFamily="18" charset="0"/>
                        <a:cs typeface="Times New Roman" panose="02020503050405090304" pitchFamily="18" charset="0"/>
                      </a:endParaRPr>
                    </a:p>
                  </a:txBody>
                  <a:tcPr/>
                </a:tc>
                <a:tc>
                  <a:txBody>
                    <a:bodyPr/>
                    <a:lstStyle/>
                    <a:p>
                      <a:r>
                        <a:rPr lang="en-US" sz="1400" dirty="0">
                          <a:latin typeface="Times New Roman" panose="02020503050405090304" pitchFamily="18" charset="0"/>
                          <a:cs typeface="Times New Roman" panose="02020503050405090304" pitchFamily="18" charset="0"/>
                        </a:rPr>
                        <a:t>Optimizes inventory decisions under uncertain demand, lead time, discounts, and multiple delivery options.</a:t>
                      </a:r>
                      <a:endParaRPr lang="en-US" altLang="en-US" sz="1400" dirty="0">
                        <a:latin typeface="Times New Roman" panose="02020503050405090304" pitchFamily="18" charset="0"/>
                        <a:cs typeface="Times New Roman" panose="02020503050405090304" pitchFamily="18" charset="0"/>
                      </a:endParaRPr>
                    </a:p>
                  </a:txBody>
                  <a:tcPr/>
                </a:tc>
                <a:extLst>
                  <a:ext uri="{0D108BD9-81ED-4DB2-BD59-A6C34878D82A}">
                    <a16:rowId xmlns:a16="http://schemas.microsoft.com/office/drawing/2014/main" val="10001"/>
                  </a:ext>
                </a:extLst>
              </a:tr>
              <a:tr h="1363893">
                <a:tc>
                  <a:txBody>
                    <a:bodyPr/>
                    <a:lstStyle/>
                    <a:p>
                      <a:pPr>
                        <a:buNone/>
                      </a:pPr>
                      <a:r>
                        <a:rPr lang="en-US" sz="1400" dirty="0">
                          <a:latin typeface="Times New Roman" panose="02020503050405090304" pitchFamily="18" charset="0"/>
                          <a:cs typeface="Times New Roman" panose="02020503050405090304" pitchFamily="18" charset="0"/>
                        </a:rPr>
                        <a:t>IACPPO: A Deep Reinforcement Learning-Based Model for Warehouse Inventory Replenishment</a:t>
                      </a:r>
                    </a:p>
                  </a:txBody>
                  <a:tcPr anchor="ctr"/>
                </a:tc>
                <a:tc>
                  <a:txBody>
                    <a:bodyPr/>
                    <a:lstStyle/>
                    <a:p>
                      <a:pPr>
                        <a:buNone/>
                      </a:pPr>
                      <a:r>
                        <a:rPr lang="en-US" dirty="0">
                          <a:latin typeface="Times New Roman" panose="02020503050405090304" pitchFamily="18" charset="0"/>
                          <a:cs typeface="Times New Roman" panose="02020503050405090304" pitchFamily="18" charset="0"/>
                        </a:rPr>
                        <a:t> 2024</a:t>
                      </a:r>
                    </a:p>
                  </a:txBody>
                  <a:tcPr anchor="ctr"/>
                </a:tc>
                <a:tc>
                  <a:txBody>
                    <a:bodyPr/>
                    <a:lstStyle/>
                    <a:p>
                      <a:endParaRPr lang="da-DK" sz="1400" dirty="0">
                        <a:latin typeface="Times New Roman" panose="02020503050405090304" pitchFamily="18" charset="0"/>
                        <a:cs typeface="Times New Roman" panose="02020503050405090304" pitchFamily="18" charset="0"/>
                      </a:endParaRPr>
                    </a:p>
                    <a:p>
                      <a:endParaRPr lang="da-DK" sz="1400" dirty="0">
                        <a:latin typeface="Times New Roman" panose="02020503050405090304" pitchFamily="18" charset="0"/>
                        <a:cs typeface="Times New Roman" panose="02020503050405090304" pitchFamily="18" charset="0"/>
                      </a:endParaRPr>
                    </a:p>
                    <a:p>
                      <a:r>
                        <a:rPr lang="en-US" sz="1400" dirty="0">
                          <a:latin typeface="Times New Roman" panose="02020503050405090304" pitchFamily="18" charset="0"/>
                          <a:cs typeface="Times New Roman" panose="02020503050405090304" pitchFamily="18" charset="0"/>
                        </a:rPr>
                        <a:t>Ran Tian, Meng Lu, Haopeng Wang, Bo Wang, </a:t>
                      </a:r>
                      <a:r>
                        <a:rPr lang="en-US" sz="1400" dirty="0" err="1">
                          <a:latin typeface="Times New Roman" panose="02020503050405090304" pitchFamily="18" charset="0"/>
                          <a:cs typeface="Times New Roman" panose="02020503050405090304" pitchFamily="18" charset="0"/>
                        </a:rPr>
                        <a:t>Qingxia</a:t>
                      </a:r>
                      <a:r>
                        <a:rPr lang="en-US" sz="1400" dirty="0">
                          <a:latin typeface="Times New Roman" panose="02020503050405090304" pitchFamily="18" charset="0"/>
                          <a:cs typeface="Times New Roman" panose="02020503050405090304" pitchFamily="18" charset="0"/>
                        </a:rPr>
                        <a:t> Tang</a:t>
                      </a:r>
                      <a:endParaRPr lang="en-US" altLang="en-US" sz="1400" dirty="0">
                        <a:latin typeface="Times New Roman" panose="02020503050405090304" pitchFamily="18" charset="0"/>
                        <a:cs typeface="Times New Roman" panose="02020503050405090304" pitchFamily="18" charset="0"/>
                      </a:endParaRPr>
                    </a:p>
                  </a:txBody>
                  <a:tcPr/>
                </a:tc>
                <a:tc>
                  <a:txBody>
                    <a:bodyPr/>
                    <a:lstStyle/>
                    <a:p>
                      <a:pPr>
                        <a:buNone/>
                      </a:pPr>
                      <a:r>
                        <a:rPr lang="en-US" sz="1400" dirty="0">
                          <a:latin typeface="Times New Roman" panose="02020503050405090304" pitchFamily="18" charset="0"/>
                          <a:cs typeface="Times New Roman" panose="02020503050405090304" pitchFamily="18" charset="0"/>
                        </a:rPr>
                        <a:t>GRU, Attention Mechanism, A2C, PPO</a:t>
                      </a:r>
                      <a:endParaRPr lang="en-US" altLang="en-US" sz="1400" dirty="0">
                        <a:latin typeface="Times New Roman" panose="02020503050405090304" pitchFamily="18" charset="0"/>
                        <a:cs typeface="Times New Roman" panose="02020503050405090304" pitchFamily="18" charset="0"/>
                      </a:endParaRPr>
                    </a:p>
                  </a:txBody>
                  <a:tcPr anchor="ctr"/>
                </a:tc>
                <a:tc>
                  <a:txBody>
                    <a:bodyPr/>
                    <a:lstStyle/>
                    <a:p>
                      <a:r>
                        <a:rPr lang="en-US" sz="1400" dirty="0">
                          <a:latin typeface="Times New Roman" panose="02020503050405090304" pitchFamily="18" charset="0"/>
                          <a:cs typeface="Times New Roman" panose="02020503050405090304" pitchFamily="18" charset="0"/>
                        </a:rPr>
                        <a:t>Combines A2C and PPO with GRU and attention to learn effective inventory replenishment strategies under changing demand conditions.</a:t>
                      </a:r>
                      <a:endParaRPr lang="en-US" altLang="en-US" sz="1400" dirty="0">
                        <a:latin typeface="Times New Roman" panose="02020503050405090304" pitchFamily="18" charset="0"/>
                        <a:cs typeface="Times New Roman" panose="02020503050405090304" pitchFamily="18" charset="0"/>
                      </a:endParaRPr>
                    </a:p>
                  </a:txBody>
                  <a:tcPr/>
                </a:tc>
                <a:extLst>
                  <a:ext uri="{0D108BD9-81ED-4DB2-BD59-A6C34878D82A}">
                    <a16:rowId xmlns:a16="http://schemas.microsoft.com/office/drawing/2014/main" val="10002"/>
                  </a:ext>
                </a:extLst>
              </a:tr>
              <a:tr h="1525710">
                <a:tc>
                  <a:txBody>
                    <a:bodyPr/>
                    <a:lstStyle/>
                    <a:p>
                      <a:r>
                        <a:rPr lang="en-US" sz="1400" dirty="0">
                          <a:latin typeface="Times New Roman" panose="02020503050405090304" pitchFamily="18" charset="0"/>
                          <a:cs typeface="Times New Roman" panose="02020503050405090304" pitchFamily="18" charset="0"/>
                        </a:rPr>
                        <a:t>Data-Driven Dynamic Pricing and Inventory Management of an Omni-Channel Retailer in an Uncertain Demand Environment</a:t>
                      </a:r>
                      <a:endParaRPr lang="en-US" altLang="en-US" sz="1400" dirty="0">
                        <a:latin typeface="Times New Roman" panose="02020503050405090304" pitchFamily="18" charset="0"/>
                        <a:cs typeface="Times New Roman" panose="02020503050405090304" pitchFamily="18" charset="0"/>
                      </a:endParaRPr>
                    </a:p>
                  </a:txBody>
                  <a:tcPr/>
                </a:tc>
                <a:tc>
                  <a:txBody>
                    <a:bodyPr/>
                    <a:lstStyle/>
                    <a:p>
                      <a:pPr algn="ctr"/>
                      <a:endParaRPr lang="en-IN" dirty="0">
                        <a:latin typeface="Times New Roman" panose="02020503050405090304" pitchFamily="18" charset="0"/>
                        <a:cs typeface="Times New Roman" panose="02020503050405090304" pitchFamily="18" charset="0"/>
                      </a:endParaRPr>
                    </a:p>
                    <a:p>
                      <a:pPr algn="ctr"/>
                      <a:endParaRPr lang="en-IN" dirty="0">
                        <a:latin typeface="Times New Roman" panose="02020503050405090304" pitchFamily="18" charset="0"/>
                        <a:cs typeface="Times New Roman" panose="02020503050405090304" pitchFamily="18" charset="0"/>
                      </a:endParaRPr>
                    </a:p>
                    <a:p>
                      <a:pPr algn="ctr"/>
                      <a:r>
                        <a:rPr lang="en-IN" dirty="0">
                          <a:latin typeface="Times New Roman" panose="02020503050405090304" pitchFamily="18" charset="0"/>
                          <a:cs typeface="Times New Roman" panose="02020503050405090304" pitchFamily="18" charset="0"/>
                        </a:rPr>
                        <a:t>2024</a:t>
                      </a:r>
                    </a:p>
                  </a:txBody>
                  <a:tcPr/>
                </a:tc>
                <a:tc>
                  <a:txBody>
                    <a:bodyPr/>
                    <a:lstStyle/>
                    <a:p>
                      <a:endParaRPr lang="en-IN" sz="1600" dirty="0">
                        <a:latin typeface="Times New Roman" panose="02020503050405090304" pitchFamily="18" charset="0"/>
                        <a:cs typeface="Times New Roman" panose="02020503050405090304" pitchFamily="18" charset="0"/>
                      </a:endParaRPr>
                    </a:p>
                    <a:p>
                      <a:r>
                        <a:rPr lang="en-US" sz="1600" dirty="0">
                          <a:latin typeface="Times New Roman" panose="02020503050405090304" pitchFamily="18" charset="0"/>
                          <a:cs typeface="Times New Roman" panose="02020503050405090304" pitchFamily="18" charset="0"/>
                        </a:rPr>
                        <a:t>Shiyu Liu, Jun Wang, Rui Wang, Yue Zhang, Yanjie Song, Lining Xing</a:t>
                      </a:r>
                      <a:endParaRPr lang="en-US" altLang="en-US" sz="1600" dirty="0">
                        <a:latin typeface="Times New Roman" panose="02020503050405090304" pitchFamily="18" charset="0"/>
                        <a:cs typeface="Times New Roman" panose="02020503050405090304" pitchFamily="18" charset="0"/>
                      </a:endParaRPr>
                    </a:p>
                  </a:txBody>
                  <a:tcPr/>
                </a:tc>
                <a:tc>
                  <a:txBody>
                    <a:bodyPr/>
                    <a:lstStyle/>
                    <a:p>
                      <a:endParaRPr lang="en-IN" sz="1600" dirty="0">
                        <a:latin typeface="Times New Roman" panose="02020503050405090304" pitchFamily="18" charset="0"/>
                        <a:cs typeface="Times New Roman" panose="02020503050405090304" pitchFamily="18" charset="0"/>
                      </a:endParaRPr>
                    </a:p>
                    <a:p>
                      <a:endParaRPr lang="en-IN" sz="1400" dirty="0">
                        <a:latin typeface="Times New Roman" panose="02020503050405090304" pitchFamily="18" charset="0"/>
                        <a:cs typeface="Times New Roman" panose="02020503050405090304" pitchFamily="18" charset="0"/>
                      </a:endParaRPr>
                    </a:p>
                    <a:p>
                      <a:r>
                        <a:rPr lang="en-US" sz="1400" dirty="0">
                          <a:latin typeface="Times New Roman" panose="02020503050405090304" pitchFamily="18" charset="0"/>
                          <a:cs typeface="Times New Roman" panose="02020503050405090304" pitchFamily="18" charset="0"/>
                        </a:rPr>
                        <a:t>LSTM, Maskable PPO (ML-PPO), POMDP</a:t>
                      </a:r>
                      <a:endParaRPr lang="en-US" altLang="en-US" sz="1400" dirty="0">
                        <a:latin typeface="Times New Roman" panose="02020503050405090304" pitchFamily="18" charset="0"/>
                        <a:cs typeface="Times New Roman" panose="02020503050405090304" pitchFamily="18" charset="0"/>
                      </a:endParaRPr>
                    </a:p>
                  </a:txBody>
                  <a:tcPr/>
                </a:tc>
                <a:tc>
                  <a:txBody>
                    <a:bodyPr/>
                    <a:lstStyle/>
                    <a:p>
                      <a:r>
                        <a:rPr lang="en-US" sz="1400" dirty="0">
                          <a:latin typeface="Times New Roman" panose="02020503050405090304" pitchFamily="18" charset="0"/>
                          <a:cs typeface="Times New Roman" panose="02020503050405090304" pitchFamily="18" charset="0"/>
                        </a:rPr>
                        <a:t>Integrates future-demand prediction with PPO to optimize pricing, replenishment, and inventory-rationing decisions for an omni-channel retailer.</a:t>
                      </a:r>
                      <a:endParaRPr lang="en-US" altLang="en-US" sz="1400" dirty="0">
                        <a:latin typeface="Times New Roman" panose="02020503050405090304" pitchFamily="18" charset="0"/>
                        <a:cs typeface="Times New Roman" panose="02020503050405090304"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67149"/>
            <a:ext cx="8596668" cy="970646"/>
          </a:xfrm>
        </p:spPr>
        <p:txBody>
          <a:bodyPr/>
          <a:lstStyle/>
          <a:p>
            <a:pPr algn="ctr"/>
            <a:r>
              <a:rPr lang="en-IN" sz="4000" dirty="0"/>
              <a:t> </a:t>
            </a:r>
            <a:r>
              <a:rPr lang="en-IN" sz="4000" b="1" dirty="0">
                <a:solidFill>
                  <a:schemeClr val="tx1"/>
                </a:solidFill>
              </a:rPr>
              <a:t> </a:t>
            </a:r>
            <a:r>
              <a:rPr lang="en-IN" sz="2800" b="1" dirty="0">
                <a:solidFill>
                  <a:schemeClr val="tx1"/>
                </a:solidFill>
                <a:latin typeface="Times New Roman" panose="02020503050405090304" pitchFamily="18" charset="0"/>
                <a:cs typeface="Times New Roman" panose="02020503050405090304" pitchFamily="18" charset="0"/>
              </a:rPr>
              <a:t>EXISTING SYSTEM </a:t>
            </a:r>
          </a:p>
        </p:txBody>
      </p:sp>
      <p:sp>
        <p:nvSpPr>
          <p:cNvPr id="3" name="Content Placeholder 2"/>
          <p:cNvSpPr>
            <a:spLocks noGrp="1"/>
          </p:cNvSpPr>
          <p:nvPr>
            <p:ph idx="1"/>
          </p:nvPr>
        </p:nvSpPr>
        <p:spPr>
          <a:xfrm>
            <a:off x="677333" y="849064"/>
            <a:ext cx="8403039" cy="6264575"/>
          </a:xfrm>
        </p:spPr>
        <p:txBody>
          <a:bodyPr>
            <a:noAutofit/>
          </a:bodyPr>
          <a:lstStyle/>
          <a:p>
            <a:pPr algn="just">
              <a:lnSpc>
                <a:spcPct val="170000"/>
              </a:lnSpc>
              <a:spcBef>
                <a:spcPts val="600"/>
              </a:spcBef>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 Traditional inventory methods may fail to accurately predict changing product demand.</a:t>
            </a:r>
          </a:p>
          <a:p>
            <a:pPr algn="just">
              <a:lnSpc>
                <a:spcPct val="170000"/>
              </a:lnSpc>
              <a:spcBef>
                <a:spcPts val="600"/>
              </a:spcBef>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 Forecasting and inventory decisions are handled separately, making the overall process less efficient.</a:t>
            </a:r>
          </a:p>
          <a:p>
            <a:pPr algn="just">
              <a:lnSpc>
                <a:spcPct val="170000"/>
              </a:lnSpc>
              <a:spcBef>
                <a:spcPts val="600"/>
              </a:spcBef>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 Static reorder rules may lead to overstocking or stockouts when demand changes unexpectedly.</a:t>
            </a:r>
          </a:p>
          <a:p>
            <a:pPr algn="just">
              <a:lnSpc>
                <a:spcPct val="170000"/>
              </a:lnSpc>
              <a:spcBef>
                <a:spcPts val="600"/>
              </a:spcBef>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 Existing methods may not effectively consider sales, pricing, discounts, promotions, weather, and seasonality together.</a:t>
            </a:r>
          </a:p>
          <a:p>
            <a:pPr algn="just">
              <a:lnSpc>
                <a:spcPct val="170000"/>
              </a:lnSpc>
              <a:spcBef>
                <a:spcPts val="600"/>
              </a:spcBef>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 They provide limited adaptability because inventory decisions are not continuously optimized based on changing conditions.</a:t>
            </a:r>
            <a:endParaRPr lang="en-IN"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0625" y="100446"/>
            <a:ext cx="8596668" cy="959141"/>
          </a:xfrm>
        </p:spPr>
        <p:txBody>
          <a:bodyPr>
            <a:normAutofit/>
          </a:bodyPr>
          <a:lstStyle/>
          <a:p>
            <a:pPr algn="l"/>
            <a:r>
              <a:rPr lang="en-IN" sz="4000" dirty="0"/>
              <a:t> </a:t>
            </a:r>
            <a:r>
              <a:rPr lang="en-US" altLang="en-IN" sz="4000" dirty="0"/>
              <a:t>              </a:t>
            </a:r>
            <a:r>
              <a:rPr lang="en-IN" sz="2800" b="1" dirty="0">
                <a:solidFill>
                  <a:schemeClr val="tx1"/>
                </a:solidFill>
                <a:latin typeface="Times New Roman" panose="02020503050405090304" pitchFamily="18" charset="0"/>
                <a:cs typeface="Times New Roman" panose="02020503050405090304" pitchFamily="18" charset="0"/>
              </a:rPr>
              <a:t>PROPOSED SYSTEM</a:t>
            </a:r>
          </a:p>
        </p:txBody>
      </p:sp>
      <p:sp>
        <p:nvSpPr>
          <p:cNvPr id="3" name="Content Placeholder 2"/>
          <p:cNvSpPr>
            <a:spLocks noGrp="1"/>
          </p:cNvSpPr>
          <p:nvPr>
            <p:ph idx="1"/>
          </p:nvPr>
        </p:nvSpPr>
        <p:spPr>
          <a:xfrm>
            <a:off x="729289" y="927996"/>
            <a:ext cx="8596668" cy="5930349"/>
          </a:xfrm>
        </p:spPr>
        <p:txBody>
          <a:bodyPr>
            <a:noAutofit/>
          </a:bodyPr>
          <a:lstStyle/>
          <a:p>
            <a:pPr algn="just">
              <a:lnSpc>
                <a:spcPct val="150000"/>
              </a:lnSpc>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 ML-based demand forecasting predicts future product demand using multiple retail factors.</a:t>
            </a:r>
          </a:p>
          <a:p>
            <a:pPr algn="just">
              <a:lnSpc>
                <a:spcPct val="150000"/>
              </a:lnSpc>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RL-based decision-making dynamically determines suitable inventory and reorder quantities.</a:t>
            </a:r>
          </a:p>
          <a:p>
            <a:pPr algn="just">
              <a:lnSpc>
                <a:spcPct val="150000"/>
              </a:lnSpc>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 Integrates ML and RL to connect demand prediction directly with inventory decisions.</a:t>
            </a:r>
          </a:p>
          <a:p>
            <a:pPr algn="just">
              <a:lnSpc>
                <a:spcPct val="150000"/>
              </a:lnSpc>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 Helps reduce stockouts and excess inventory by making data-driven replenishment decisions.</a:t>
            </a:r>
          </a:p>
          <a:p>
            <a:pPr algn="just">
              <a:lnSpc>
                <a:spcPct val="150000"/>
              </a:lnSpc>
              <a:buFont typeface="Wingdings" panose="05000000000000000000" pitchFamily="2" charset="2"/>
              <a:buChar char="Ø"/>
            </a:pPr>
            <a:r>
              <a:rPr lang="en-US" dirty="0">
                <a:latin typeface="Times New Roman" panose="02020503050405090304" pitchFamily="18" charset="0"/>
                <a:cs typeface="Times New Roman" panose="02020503050405090304" pitchFamily="18" charset="0"/>
              </a:rPr>
              <a:t> Provides a flexible and adaptive framework that can respond to changing demand and inventory conditions</a:t>
            </a:r>
            <a:endParaRPr lang="en-IN"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3D682A-E726-FDB0-4A4C-D2199C9279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114" y="1122745"/>
            <a:ext cx="9155576" cy="4930814"/>
          </a:xfrm>
          <a:prstGeom prst="rect">
            <a:avLst/>
          </a:prstGeom>
        </p:spPr>
      </p:pic>
      <p:sp>
        <p:nvSpPr>
          <p:cNvPr id="4" name="TextBox 3">
            <a:extLst>
              <a:ext uri="{FF2B5EF4-FFF2-40B4-BE49-F238E27FC236}">
                <a16:creationId xmlns:a16="http://schemas.microsoft.com/office/drawing/2014/main" id="{7F5D0D4E-1D6C-BB52-F27A-C804EC9A69CD}"/>
              </a:ext>
            </a:extLst>
          </p:cNvPr>
          <p:cNvSpPr txBox="1"/>
          <p:nvPr/>
        </p:nvSpPr>
        <p:spPr>
          <a:xfrm>
            <a:off x="4247909" y="347241"/>
            <a:ext cx="1788375"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RESULTS</a:t>
            </a:r>
          </a:p>
        </p:txBody>
      </p:sp>
    </p:spTree>
    <p:extLst>
      <p:ext uri="{BB962C8B-B14F-4D97-AF65-F5344CB8AC3E}">
        <p14:creationId xmlns:p14="http://schemas.microsoft.com/office/powerpoint/2010/main" val="1060765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09AB815-9F1F-7C7E-01CE-58C1225012E7}"/>
              </a:ext>
            </a:extLst>
          </p:cNvPr>
          <p:cNvPicPr>
            <a:picLocks noChangeAspect="1"/>
          </p:cNvPicPr>
          <p:nvPr/>
        </p:nvPicPr>
        <p:blipFill>
          <a:blip r:embed="rId2"/>
          <a:stretch>
            <a:fillRect/>
          </a:stretch>
        </p:blipFill>
        <p:spPr>
          <a:xfrm>
            <a:off x="497711" y="821802"/>
            <a:ext cx="8831484" cy="544010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023638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405AAF-0223-088F-3D40-D6E6B29E81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1331" y="544395"/>
            <a:ext cx="8565267" cy="5769210"/>
          </a:xfrm>
          <a:prstGeom prst="rect">
            <a:avLst/>
          </a:prstGeom>
        </p:spPr>
      </p:pic>
    </p:spTree>
    <p:extLst>
      <p:ext uri="{BB962C8B-B14F-4D97-AF65-F5344CB8AC3E}">
        <p14:creationId xmlns:p14="http://schemas.microsoft.com/office/powerpoint/2010/main" val="466842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1CCADA-3966-063A-ACC7-2549961BF0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3458" y="712228"/>
            <a:ext cx="8981954" cy="5433543"/>
          </a:xfrm>
          <a:prstGeom prst="rect">
            <a:avLst/>
          </a:prstGeom>
        </p:spPr>
      </p:pic>
    </p:spTree>
    <p:extLst>
      <p:ext uri="{BB962C8B-B14F-4D97-AF65-F5344CB8AC3E}">
        <p14:creationId xmlns:p14="http://schemas.microsoft.com/office/powerpoint/2010/main" val="2391838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986481"/>
            <a:ext cx="8596668" cy="1459684"/>
          </a:xfrm>
        </p:spPr>
        <p:txBody>
          <a:bodyPr>
            <a:normAutofit/>
          </a:bodyPr>
          <a:lstStyle/>
          <a:p>
            <a:pPr algn="ctr"/>
            <a:r>
              <a:rPr lang="en-US" sz="4400" b="1" dirty="0">
                <a:solidFill>
                  <a:schemeClr val="tx1"/>
                </a:solidFill>
                <a:latin typeface="Times New Roman" panose="02020503050405090304" pitchFamily="18" charset="0"/>
                <a:cs typeface="Times New Roman" panose="02020503050405090304" pitchFamily="18" charset="0"/>
              </a:rPr>
              <a:t>THANK YOU!</a:t>
            </a:r>
            <a:endParaRPr lang="en-IN" sz="4400" b="1" dirty="0">
              <a:solidFill>
                <a:schemeClr val="tx1"/>
              </a:solidFill>
              <a:latin typeface="Times New Roman" panose="02020503050405090304" pitchFamily="18" charset="0"/>
              <a:cs typeface="Times New Roman" panose="02020503050405090304" pitchFamily="18" charset="0"/>
            </a:endParaRP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25</TotalTime>
  <Words>628</Words>
  <Application>Microsoft Office PowerPoint</Application>
  <PresentationFormat>Widescreen</PresentationFormat>
  <Paragraphs>75</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Times New Roman</vt:lpstr>
      <vt:lpstr>Trebuchet MS</vt:lpstr>
      <vt:lpstr>Wingdings</vt:lpstr>
      <vt:lpstr>Wingdings 3</vt:lpstr>
      <vt:lpstr>Facet</vt:lpstr>
      <vt:lpstr>TITLE: INTEGRATED MACHINE LEARNING AND REINFORCEMENT LEARNING FRAMEWORK FOR RETAIL DEMAND FORECASTING AND INVENTORY DECISION OPTIMIZATION</vt:lpstr>
      <vt:lpstr>OUTLINE</vt:lpstr>
      <vt:lpstr> ABSTRACT</vt:lpstr>
      <vt:lpstr>PowerPoint Presentation</vt:lpstr>
      <vt:lpstr>IMPLEMENTATION</vt:lpstr>
      <vt:lpstr> LITERATURE SURVEY</vt:lpstr>
      <vt:lpstr>  EXISTING SYSTEM </vt:lpstr>
      <vt:lpstr>               PROPOSED SYSTEM</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Vyshnavi Vemireddy</dc:creator>
  <cp:lastModifiedBy>Vardhan Talambarala</cp:lastModifiedBy>
  <cp:revision>21</cp:revision>
  <dcterms:created xsi:type="dcterms:W3CDTF">2026-09-23T16:07:47Z</dcterms:created>
  <dcterms:modified xsi:type="dcterms:W3CDTF">2026-09-26T01:41:58Z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8754EA31724FF0CB53F9B36A039F011A_43</vt:lpwstr>
  </property>
  <property fmtid="{D5CDD505-2E9C-101B-9397-08002B2CF9AE}" pid="3" name="KSOProductBuildVer">
    <vt:lpwstr>1033-12.1.23153.23153</vt:lpwstr>
  </property>
</Properties>
</file>